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mo" panose="020B0604020202020204" charset="0"/>
      <p:regular r:id="rId18"/>
    </p:embeddedFont>
    <p:embeddedFont>
      <p:font typeface="Canva Sans" panose="020B0604020202020204" charset="0"/>
      <p:regular r:id="rId19"/>
    </p:embeddedFont>
    <p:embeddedFont>
      <p:font typeface="Canva Sans Bold" panose="020B0604020202020204" charset="0"/>
      <p:regular r:id="rId20"/>
    </p:embeddedFont>
    <p:embeddedFont>
      <p:font typeface="Nirand Bold" panose="020B0604020202020204" charset="-34"/>
      <p:regular r:id="rId21"/>
    </p:embeddedFont>
    <p:embeddedFont>
      <p:font typeface="Nunito" pitchFamily="2" charset="0"/>
      <p:regular r:id="rId22"/>
    </p:embeddedFont>
    <p:embeddedFont>
      <p:font typeface="Nunito Bold" charset="0"/>
      <p:regular r:id="rId23"/>
    </p:embeddedFont>
    <p:embeddedFont>
      <p:font typeface="Open Sans" panose="020B0606030504020204" pitchFamily="34" charset="0"/>
      <p:regular r:id="rId24"/>
    </p:embeddedFont>
    <p:embeddedFont>
      <p:font typeface="Open San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51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2492504" y="-2406016"/>
            <a:ext cx="16040420" cy="160404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359304" y="488689"/>
            <a:ext cx="2513081" cy="251308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700579" y="1028700"/>
            <a:ext cx="7733905" cy="0"/>
          </a:xfrm>
          <a:prstGeom prst="line">
            <a:avLst/>
          </a:prstGeom>
          <a:ln w="38100" cap="flat">
            <a:solidFill>
              <a:srgbClr val="2E3A44"/>
            </a:solidFill>
            <a:prstDash val="solid"/>
            <a:headEnd type="none" w="sm" len="sm"/>
            <a:tailEnd type="oval" w="lg" len="lg"/>
          </a:ln>
        </p:spPr>
      </p:sp>
      <p:sp>
        <p:nvSpPr>
          <p:cNvPr id="9" name="AutoShape 9"/>
          <p:cNvSpPr/>
          <p:nvPr/>
        </p:nvSpPr>
        <p:spPr>
          <a:xfrm>
            <a:off x="11230885" y="9258300"/>
            <a:ext cx="7770392" cy="0"/>
          </a:xfrm>
          <a:prstGeom prst="line">
            <a:avLst/>
          </a:prstGeom>
          <a:ln w="38100" cap="flat">
            <a:solidFill>
              <a:srgbClr val="2E3A44"/>
            </a:solidFill>
            <a:prstDash val="solid"/>
            <a:headEnd type="oval" w="lg" len="lg"/>
            <a:tailEnd type="none" w="sm" len="sm"/>
          </a:ln>
        </p:spPr>
      </p:sp>
      <p:grpSp>
        <p:nvGrpSpPr>
          <p:cNvPr id="10" name="Group 10"/>
          <p:cNvGrpSpPr/>
          <p:nvPr/>
        </p:nvGrpSpPr>
        <p:grpSpPr>
          <a:xfrm>
            <a:off x="-185913" y="8946139"/>
            <a:ext cx="1586288" cy="158628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607231" y="1719005"/>
            <a:ext cx="11918506" cy="2432181"/>
          </a:xfrm>
          <a:prstGeom prst="rect">
            <a:avLst/>
          </a:prstGeom>
        </p:spPr>
        <p:txBody>
          <a:bodyPr lIns="0" tIns="0" rIns="0" bIns="0" rtlCol="0" anchor="t">
            <a:spAutoFit/>
          </a:bodyPr>
          <a:lstStyle/>
          <a:p>
            <a:pPr algn="l">
              <a:lnSpc>
                <a:spcPts val="9792"/>
              </a:lnSpc>
            </a:pPr>
            <a:r>
              <a:rPr lang="en-US" sz="6994" b="1">
                <a:solidFill>
                  <a:srgbClr val="627484"/>
                </a:solidFill>
                <a:latin typeface="Open Sans Bold"/>
                <a:ea typeface="Open Sans Bold"/>
                <a:cs typeface="Open Sans Bold"/>
                <a:sym typeface="Open Sans Bold"/>
              </a:rPr>
              <a:t>Amazon Inventory Reconciliation Using AI</a:t>
            </a:r>
          </a:p>
        </p:txBody>
      </p:sp>
      <p:sp>
        <p:nvSpPr>
          <p:cNvPr id="14" name="TextBox 14"/>
          <p:cNvSpPr txBox="1"/>
          <p:nvPr/>
        </p:nvSpPr>
        <p:spPr>
          <a:xfrm>
            <a:off x="14359304" y="7112615"/>
            <a:ext cx="2899996" cy="1833524"/>
          </a:xfrm>
          <a:prstGeom prst="rect">
            <a:avLst/>
          </a:prstGeom>
        </p:spPr>
        <p:txBody>
          <a:bodyPr lIns="0" tIns="0" rIns="0" bIns="0" rtlCol="0" anchor="t">
            <a:spAutoFit/>
          </a:bodyPr>
          <a:lstStyle/>
          <a:p>
            <a:pPr algn="just">
              <a:lnSpc>
                <a:spcPts val="3773"/>
              </a:lnSpc>
            </a:pPr>
            <a:r>
              <a:rPr lang="en-US" sz="2695">
                <a:solidFill>
                  <a:srgbClr val="627484"/>
                </a:solidFill>
                <a:latin typeface="Open Sans"/>
                <a:ea typeface="Open Sans"/>
                <a:cs typeface="Open Sans"/>
                <a:sym typeface="Open Sans"/>
              </a:rPr>
              <a:t>By</a:t>
            </a:r>
          </a:p>
          <a:p>
            <a:pPr algn="just">
              <a:lnSpc>
                <a:spcPts val="3773"/>
              </a:lnSpc>
            </a:pPr>
            <a:r>
              <a:rPr lang="en-US" sz="2695">
                <a:solidFill>
                  <a:srgbClr val="627484"/>
                </a:solidFill>
                <a:latin typeface="Open Sans"/>
                <a:ea typeface="Open Sans"/>
                <a:cs typeface="Open Sans"/>
                <a:sym typeface="Open Sans"/>
              </a:rPr>
              <a:t>Anshul R S</a:t>
            </a:r>
          </a:p>
          <a:p>
            <a:pPr algn="just">
              <a:lnSpc>
                <a:spcPts val="3773"/>
              </a:lnSpc>
            </a:pPr>
            <a:r>
              <a:rPr lang="en-US" sz="2695">
                <a:solidFill>
                  <a:srgbClr val="627484"/>
                </a:solidFill>
                <a:latin typeface="Open Sans"/>
                <a:ea typeface="Open Sans"/>
                <a:cs typeface="Open Sans"/>
                <a:sym typeface="Open Sans"/>
              </a:rPr>
              <a:t>Aryan Srivastava</a:t>
            </a:r>
          </a:p>
          <a:p>
            <a:pPr algn="just">
              <a:lnSpc>
                <a:spcPts val="3445"/>
              </a:lnSpc>
              <a:spcBef>
                <a:spcPct val="0"/>
              </a:spcBef>
            </a:pPr>
            <a:endParaRPr lang="en-US" sz="2695">
              <a:solidFill>
                <a:srgbClr val="627484"/>
              </a:solidFill>
              <a:latin typeface="Open Sans"/>
              <a:ea typeface="Open Sans"/>
              <a:cs typeface="Open Sans"/>
              <a:sym typeface="Open Sans"/>
            </a:endParaRPr>
          </a:p>
        </p:txBody>
      </p:sp>
      <p:sp>
        <p:nvSpPr>
          <p:cNvPr id="15" name="TextBox 15"/>
          <p:cNvSpPr txBox="1"/>
          <p:nvPr/>
        </p:nvSpPr>
        <p:spPr>
          <a:xfrm>
            <a:off x="-314231" y="5328417"/>
            <a:ext cx="12695114" cy="514403"/>
          </a:xfrm>
          <a:prstGeom prst="rect">
            <a:avLst/>
          </a:prstGeom>
        </p:spPr>
        <p:txBody>
          <a:bodyPr lIns="0" tIns="0" rIns="0" bIns="0" rtlCol="0" anchor="t">
            <a:spAutoFit/>
          </a:bodyPr>
          <a:lstStyle/>
          <a:p>
            <a:pPr algn="ctr">
              <a:lnSpc>
                <a:spcPts val="4200"/>
              </a:lnSpc>
            </a:pPr>
            <a:r>
              <a:rPr lang="en-US" sz="3000" b="1">
                <a:solidFill>
                  <a:srgbClr val="2E3A44"/>
                </a:solidFill>
                <a:latin typeface="Canva Sans Bold"/>
                <a:ea typeface="Canva Sans Bold"/>
                <a:cs typeface="Canva Sans Bold"/>
                <a:sym typeface="Canva Sans Bold"/>
              </a:rPr>
              <a:t>Evaluating various ML models for Inventory Management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7476852" y="-1916547"/>
            <a:ext cx="14120094" cy="1412009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6" name="Group 6"/>
          <p:cNvGrpSpPr/>
          <p:nvPr/>
        </p:nvGrpSpPr>
        <p:grpSpPr>
          <a:xfrm>
            <a:off x="322038" y="-1115182"/>
            <a:ext cx="2230365" cy="22303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74935" y="2731357"/>
            <a:ext cx="4112146" cy="411214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4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42563" y="2807586"/>
            <a:ext cx="3976888" cy="3976888"/>
          </a:xfrm>
          <a:custGeom>
            <a:avLst/>
            <a:gdLst/>
            <a:ahLst/>
            <a:cxnLst/>
            <a:rect l="l" t="t" r="r" b="b"/>
            <a:pathLst>
              <a:path w="3976888" h="3976888">
                <a:moveTo>
                  <a:pt x="0" y="0"/>
                </a:moveTo>
                <a:lnTo>
                  <a:pt x="3976889" y="0"/>
                </a:lnTo>
                <a:lnTo>
                  <a:pt x="3976889" y="3976889"/>
                </a:lnTo>
                <a:lnTo>
                  <a:pt x="0" y="3976889"/>
                </a:lnTo>
                <a:lnTo>
                  <a:pt x="0" y="0"/>
                </a:lnTo>
                <a:close/>
              </a:path>
            </a:pathLst>
          </a:custGeom>
          <a:blipFill>
            <a:blip r:embed="rId2"/>
            <a:stretch>
              <a:fillRect/>
            </a:stretch>
          </a:blipFill>
        </p:spPr>
      </p:sp>
      <p:sp>
        <p:nvSpPr>
          <p:cNvPr id="13" name="TextBox 13"/>
          <p:cNvSpPr txBox="1"/>
          <p:nvPr/>
        </p:nvSpPr>
        <p:spPr>
          <a:xfrm>
            <a:off x="4767797" y="781050"/>
            <a:ext cx="8752407" cy="1006502"/>
          </a:xfrm>
          <a:prstGeom prst="rect">
            <a:avLst/>
          </a:prstGeom>
        </p:spPr>
        <p:txBody>
          <a:bodyPr lIns="0" tIns="0" rIns="0" bIns="0" rtlCol="0" anchor="t">
            <a:spAutoFit/>
          </a:bodyPr>
          <a:lstStyle/>
          <a:p>
            <a:pPr algn="ctr">
              <a:lnSpc>
                <a:spcPts val="7000"/>
              </a:lnSpc>
            </a:pPr>
            <a:r>
              <a:rPr lang="en-US" sz="5000" b="1">
                <a:solidFill>
                  <a:srgbClr val="2E3A44"/>
                </a:solidFill>
                <a:latin typeface="Nirand Bold"/>
                <a:ea typeface="Nirand Bold"/>
                <a:cs typeface="Nirand Bold"/>
                <a:sym typeface="Nirand Bold"/>
              </a:rPr>
              <a:t>PROBLEM STATEMENT</a:t>
            </a:r>
          </a:p>
        </p:txBody>
      </p:sp>
      <p:sp>
        <p:nvSpPr>
          <p:cNvPr id="14" name="TextBox 14"/>
          <p:cNvSpPr txBox="1"/>
          <p:nvPr/>
        </p:nvSpPr>
        <p:spPr>
          <a:xfrm>
            <a:off x="7853208" y="3752700"/>
            <a:ext cx="9964634" cy="2304846"/>
          </a:xfrm>
          <a:prstGeom prst="rect">
            <a:avLst/>
          </a:prstGeom>
        </p:spPr>
        <p:txBody>
          <a:bodyPr lIns="0" tIns="0" rIns="0" bIns="0" rtlCol="0" anchor="t">
            <a:spAutoFit/>
          </a:bodyPr>
          <a:lstStyle/>
          <a:p>
            <a:pPr algn="l">
              <a:lnSpc>
                <a:spcPts val="4621"/>
              </a:lnSpc>
            </a:pPr>
            <a:r>
              <a:rPr lang="en-US" sz="3301">
                <a:solidFill>
                  <a:srgbClr val="2E3A44"/>
                </a:solidFill>
                <a:latin typeface="Nunito"/>
                <a:ea typeface="Nunito"/>
                <a:cs typeface="Nunito"/>
                <a:sym typeface="Nunito"/>
              </a:rPr>
              <a:t>Manual inventory reconciliation is slow, inaccurate, and expensive. This project will determine if machine learning can automate the process to improve accuracy and cut costs.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3" name="Group 3"/>
          <p:cNvGrpSpPr/>
          <p:nvPr/>
        </p:nvGrpSpPr>
        <p:grpSpPr>
          <a:xfrm>
            <a:off x="-1035530" y="-1416725"/>
            <a:ext cx="3234326" cy="323432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481583" y="2939867"/>
            <a:ext cx="3467543" cy="1118578"/>
            <a:chOff x="0" y="0"/>
            <a:chExt cx="899406" cy="290135"/>
          </a:xfrm>
        </p:grpSpPr>
        <p:sp>
          <p:nvSpPr>
            <p:cNvPr id="7" name="Freeform 7"/>
            <p:cNvSpPr/>
            <p:nvPr/>
          </p:nvSpPr>
          <p:spPr>
            <a:xfrm>
              <a:off x="0" y="0"/>
              <a:ext cx="899406" cy="290135"/>
            </a:xfrm>
            <a:custGeom>
              <a:avLst/>
              <a:gdLst/>
              <a:ahLst/>
              <a:cxnLst/>
              <a:rect l="l" t="t" r="r" b="b"/>
              <a:pathLst>
                <a:path w="899406" h="290135">
                  <a:moveTo>
                    <a:pt x="113867" y="0"/>
                  </a:moveTo>
                  <a:lnTo>
                    <a:pt x="785539" y="0"/>
                  </a:lnTo>
                  <a:cubicBezTo>
                    <a:pt x="848426" y="0"/>
                    <a:pt x="899406" y="50980"/>
                    <a:pt x="899406" y="113867"/>
                  </a:cubicBezTo>
                  <a:lnTo>
                    <a:pt x="899406" y="176268"/>
                  </a:lnTo>
                  <a:cubicBezTo>
                    <a:pt x="899406" y="239155"/>
                    <a:pt x="848426" y="290135"/>
                    <a:pt x="785539" y="290135"/>
                  </a:cubicBezTo>
                  <a:lnTo>
                    <a:pt x="113867" y="290135"/>
                  </a:lnTo>
                  <a:cubicBezTo>
                    <a:pt x="50980" y="290135"/>
                    <a:pt x="0" y="239155"/>
                    <a:pt x="0" y="176268"/>
                  </a:cubicBezTo>
                  <a:lnTo>
                    <a:pt x="0" y="113867"/>
                  </a:lnTo>
                  <a:cubicBezTo>
                    <a:pt x="0" y="50980"/>
                    <a:pt x="50980" y="0"/>
                    <a:pt x="113867" y="0"/>
                  </a:cubicBezTo>
                  <a:close/>
                </a:path>
              </a:pathLst>
            </a:custGeom>
            <a:solidFill>
              <a:srgbClr val="C0D1DF"/>
            </a:solidFill>
          </p:spPr>
        </p:sp>
        <p:sp>
          <p:nvSpPr>
            <p:cNvPr id="8" name="TextBox 8"/>
            <p:cNvSpPr txBox="1"/>
            <p:nvPr/>
          </p:nvSpPr>
          <p:spPr>
            <a:xfrm>
              <a:off x="0" y="-38100"/>
              <a:ext cx="899406" cy="32823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745847" y="3188431"/>
            <a:ext cx="2835752" cy="554721"/>
          </a:xfrm>
          <a:prstGeom prst="rect">
            <a:avLst/>
          </a:prstGeom>
        </p:spPr>
        <p:txBody>
          <a:bodyPr lIns="0" tIns="0" rIns="0" bIns="0" rtlCol="0" anchor="t">
            <a:spAutoFit/>
          </a:bodyPr>
          <a:lstStyle/>
          <a:p>
            <a:pPr algn="ctr">
              <a:lnSpc>
                <a:spcPts val="4549"/>
              </a:lnSpc>
            </a:pPr>
            <a:r>
              <a:rPr lang="en-US" sz="3249" b="1">
                <a:solidFill>
                  <a:srgbClr val="2E3A44"/>
                </a:solidFill>
                <a:latin typeface="Nunito Bold"/>
                <a:ea typeface="Nunito Bold"/>
                <a:cs typeface="Nunito Bold"/>
                <a:sym typeface="Nunito Bold"/>
              </a:rPr>
              <a:t>SVM</a:t>
            </a:r>
          </a:p>
        </p:txBody>
      </p:sp>
      <p:grpSp>
        <p:nvGrpSpPr>
          <p:cNvPr id="10" name="Group 10"/>
          <p:cNvGrpSpPr/>
          <p:nvPr/>
        </p:nvGrpSpPr>
        <p:grpSpPr>
          <a:xfrm>
            <a:off x="12401216" y="2927198"/>
            <a:ext cx="3472157" cy="1143917"/>
            <a:chOff x="0" y="0"/>
            <a:chExt cx="900602" cy="296707"/>
          </a:xfrm>
        </p:grpSpPr>
        <p:sp>
          <p:nvSpPr>
            <p:cNvPr id="11" name="Freeform 11"/>
            <p:cNvSpPr/>
            <p:nvPr/>
          </p:nvSpPr>
          <p:spPr>
            <a:xfrm>
              <a:off x="0" y="0"/>
              <a:ext cx="900602" cy="296707"/>
            </a:xfrm>
            <a:custGeom>
              <a:avLst/>
              <a:gdLst/>
              <a:ahLst/>
              <a:cxnLst/>
              <a:rect l="l" t="t" r="r" b="b"/>
              <a:pathLst>
                <a:path w="900602" h="296707">
                  <a:moveTo>
                    <a:pt x="113715" y="0"/>
                  </a:moveTo>
                  <a:lnTo>
                    <a:pt x="786887" y="0"/>
                  </a:lnTo>
                  <a:cubicBezTo>
                    <a:pt x="817046" y="0"/>
                    <a:pt x="845970" y="11981"/>
                    <a:pt x="867296" y="33306"/>
                  </a:cubicBezTo>
                  <a:cubicBezTo>
                    <a:pt x="888622" y="54632"/>
                    <a:pt x="900602" y="83556"/>
                    <a:pt x="900602" y="113715"/>
                  </a:cubicBezTo>
                  <a:lnTo>
                    <a:pt x="900602" y="182992"/>
                  </a:lnTo>
                  <a:cubicBezTo>
                    <a:pt x="900602" y="245795"/>
                    <a:pt x="849690" y="296707"/>
                    <a:pt x="786887" y="296707"/>
                  </a:cubicBezTo>
                  <a:lnTo>
                    <a:pt x="113715" y="296707"/>
                  </a:lnTo>
                  <a:cubicBezTo>
                    <a:pt x="83556" y="296707"/>
                    <a:pt x="54632" y="284727"/>
                    <a:pt x="33306" y="263401"/>
                  </a:cubicBezTo>
                  <a:cubicBezTo>
                    <a:pt x="11981" y="242075"/>
                    <a:pt x="0" y="213151"/>
                    <a:pt x="0" y="182992"/>
                  </a:cubicBezTo>
                  <a:lnTo>
                    <a:pt x="0" y="113715"/>
                  </a:lnTo>
                  <a:cubicBezTo>
                    <a:pt x="0" y="83556"/>
                    <a:pt x="11981" y="54632"/>
                    <a:pt x="33306" y="33306"/>
                  </a:cubicBezTo>
                  <a:cubicBezTo>
                    <a:pt x="54632" y="11981"/>
                    <a:pt x="83556" y="0"/>
                    <a:pt x="113715" y="0"/>
                  </a:cubicBezTo>
                  <a:close/>
                </a:path>
              </a:pathLst>
            </a:custGeom>
            <a:solidFill>
              <a:srgbClr val="C0D1DF"/>
            </a:solidFill>
          </p:spPr>
        </p:sp>
        <p:sp>
          <p:nvSpPr>
            <p:cNvPr id="12" name="TextBox 12"/>
            <p:cNvSpPr txBox="1"/>
            <p:nvPr/>
          </p:nvSpPr>
          <p:spPr>
            <a:xfrm>
              <a:off x="0" y="-38100"/>
              <a:ext cx="900602" cy="334807"/>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2473754" y="3188431"/>
            <a:ext cx="3472157" cy="554722"/>
          </a:xfrm>
          <a:prstGeom prst="rect">
            <a:avLst/>
          </a:prstGeom>
        </p:spPr>
        <p:txBody>
          <a:bodyPr lIns="0" tIns="0" rIns="0" bIns="0" rtlCol="0" anchor="t">
            <a:spAutoFit/>
          </a:bodyPr>
          <a:lstStyle/>
          <a:p>
            <a:pPr marL="0" lvl="0" indent="0" algn="ctr">
              <a:lnSpc>
                <a:spcPts val="4549"/>
              </a:lnSpc>
              <a:spcBef>
                <a:spcPct val="0"/>
              </a:spcBef>
            </a:pPr>
            <a:r>
              <a:rPr lang="en-US" sz="3249" b="1">
                <a:solidFill>
                  <a:srgbClr val="2E3A44"/>
                </a:solidFill>
                <a:latin typeface="Nunito Bold"/>
                <a:ea typeface="Nunito Bold"/>
                <a:cs typeface="Nunito Bold"/>
                <a:sym typeface="Nunito Bold"/>
              </a:rPr>
              <a:t>CNN</a:t>
            </a:r>
          </a:p>
        </p:txBody>
      </p:sp>
      <p:sp>
        <p:nvSpPr>
          <p:cNvPr id="14" name="TextBox 14"/>
          <p:cNvSpPr txBox="1"/>
          <p:nvPr/>
        </p:nvSpPr>
        <p:spPr>
          <a:xfrm>
            <a:off x="3360695" y="714375"/>
            <a:ext cx="10573132" cy="1318286"/>
          </a:xfrm>
          <a:prstGeom prst="rect">
            <a:avLst/>
          </a:prstGeom>
        </p:spPr>
        <p:txBody>
          <a:bodyPr lIns="0" tIns="0" rIns="0" bIns="0" rtlCol="0" anchor="t">
            <a:spAutoFit/>
          </a:bodyPr>
          <a:lstStyle/>
          <a:p>
            <a:pPr algn="ctr">
              <a:lnSpc>
                <a:spcPts val="9240"/>
              </a:lnSpc>
            </a:pPr>
            <a:r>
              <a:rPr lang="en-US" sz="6600" b="1">
                <a:solidFill>
                  <a:srgbClr val="2E3A44"/>
                </a:solidFill>
                <a:latin typeface="Nirand Bold"/>
                <a:ea typeface="Nirand Bold"/>
                <a:cs typeface="Nirand Bold"/>
                <a:sym typeface="Nirand Bold"/>
              </a:rPr>
              <a:t>METHODS USED</a:t>
            </a:r>
          </a:p>
        </p:txBody>
      </p:sp>
      <p:sp>
        <p:nvSpPr>
          <p:cNvPr id="15" name="TextBox 15"/>
          <p:cNvSpPr txBox="1"/>
          <p:nvPr/>
        </p:nvSpPr>
        <p:spPr>
          <a:xfrm>
            <a:off x="489860" y="5008707"/>
            <a:ext cx="17093219" cy="3235800"/>
          </a:xfrm>
          <a:prstGeom prst="rect">
            <a:avLst/>
          </a:prstGeom>
        </p:spPr>
        <p:txBody>
          <a:bodyPr lIns="0" tIns="0" rIns="0" bIns="0" rtlCol="0" anchor="t">
            <a:spAutoFit/>
          </a:bodyPr>
          <a:lstStyle/>
          <a:p>
            <a:pPr algn="ctr">
              <a:lnSpc>
                <a:spcPts val="4340"/>
              </a:lnSpc>
            </a:pPr>
            <a:r>
              <a:rPr lang="en-US" sz="3100">
                <a:solidFill>
                  <a:srgbClr val="2E3A44"/>
                </a:solidFill>
                <a:latin typeface="Canva Sans"/>
                <a:ea typeface="Canva Sans"/>
                <a:cs typeface="Canva Sans"/>
                <a:sym typeface="Canva Sans"/>
              </a:rPr>
              <a:t>This presentation focuses on solving the problem of inventory classification using computer vision techniques, specifically leveraging Support Vector Machines (SVMs) and Convolutional Neural Networks (CNNs). It provides an overview of the complete workflow — from data preprocessing and feature extraction to model training, evaluation, and comparison — highlighting how traditional machine learning and deep learning approaches perform in visual inventory recognition tasks.</a:t>
            </a:r>
          </a:p>
        </p:txBody>
      </p:sp>
      <p:sp>
        <p:nvSpPr>
          <p:cNvPr id="16" name="AutoShape 16"/>
          <p:cNvSpPr/>
          <p:nvPr/>
        </p:nvSpPr>
        <p:spPr>
          <a:xfrm>
            <a:off x="8647261" y="2032661"/>
            <a:ext cx="3900974" cy="1491928"/>
          </a:xfrm>
          <a:prstGeom prst="line">
            <a:avLst/>
          </a:prstGeom>
          <a:ln w="38100" cap="flat">
            <a:solidFill>
              <a:srgbClr val="2E3A44"/>
            </a:solidFill>
            <a:prstDash val="solid"/>
            <a:headEnd type="none" w="sm" len="sm"/>
            <a:tailEnd type="arrow" w="med" len="sm"/>
          </a:ln>
        </p:spPr>
      </p:sp>
      <p:sp>
        <p:nvSpPr>
          <p:cNvPr id="17" name="AutoShape 17"/>
          <p:cNvSpPr/>
          <p:nvPr/>
        </p:nvSpPr>
        <p:spPr>
          <a:xfrm flipH="1">
            <a:off x="4949126" y="2032661"/>
            <a:ext cx="3698135" cy="1466495"/>
          </a:xfrm>
          <a:prstGeom prst="line">
            <a:avLst/>
          </a:prstGeom>
          <a:ln w="38100" cap="flat">
            <a:solidFill>
              <a:srgbClr val="2E3A44"/>
            </a:solidFill>
            <a:prstDash val="solid"/>
            <a:headEnd type="none" w="sm" len="sm"/>
            <a:tailEnd type="arrow" w="med" len="sm"/>
          </a:ln>
        </p:spPr>
      </p:sp>
      <p:grpSp>
        <p:nvGrpSpPr>
          <p:cNvPr id="18" name="Group 18"/>
          <p:cNvGrpSpPr/>
          <p:nvPr/>
        </p:nvGrpSpPr>
        <p:grpSpPr>
          <a:xfrm>
            <a:off x="16670837" y="-867120"/>
            <a:ext cx="3234326" cy="3234326"/>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17447" y="7372841"/>
            <a:ext cx="8028675" cy="802867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6" name="Group 6"/>
          <p:cNvGrpSpPr/>
          <p:nvPr/>
        </p:nvGrpSpPr>
        <p:grpSpPr>
          <a:xfrm>
            <a:off x="-748782" y="-1201665"/>
            <a:ext cx="2230365" cy="22303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856407" y="4583626"/>
            <a:ext cx="3467543" cy="1118578"/>
            <a:chOff x="0" y="0"/>
            <a:chExt cx="899406" cy="290135"/>
          </a:xfrm>
        </p:grpSpPr>
        <p:sp>
          <p:nvSpPr>
            <p:cNvPr id="10" name="Freeform 10"/>
            <p:cNvSpPr/>
            <p:nvPr/>
          </p:nvSpPr>
          <p:spPr>
            <a:xfrm>
              <a:off x="0" y="0"/>
              <a:ext cx="899406" cy="290135"/>
            </a:xfrm>
            <a:custGeom>
              <a:avLst/>
              <a:gdLst/>
              <a:ahLst/>
              <a:cxnLst/>
              <a:rect l="l" t="t" r="r" b="b"/>
              <a:pathLst>
                <a:path w="899406" h="290135">
                  <a:moveTo>
                    <a:pt x="113867" y="0"/>
                  </a:moveTo>
                  <a:lnTo>
                    <a:pt x="785539" y="0"/>
                  </a:lnTo>
                  <a:cubicBezTo>
                    <a:pt x="848426" y="0"/>
                    <a:pt x="899406" y="50980"/>
                    <a:pt x="899406" y="113867"/>
                  </a:cubicBezTo>
                  <a:lnTo>
                    <a:pt x="899406" y="176268"/>
                  </a:lnTo>
                  <a:cubicBezTo>
                    <a:pt x="899406" y="239155"/>
                    <a:pt x="848426" y="290135"/>
                    <a:pt x="785539" y="290135"/>
                  </a:cubicBezTo>
                  <a:lnTo>
                    <a:pt x="113867" y="290135"/>
                  </a:lnTo>
                  <a:cubicBezTo>
                    <a:pt x="50980" y="290135"/>
                    <a:pt x="0" y="239155"/>
                    <a:pt x="0" y="176268"/>
                  </a:cubicBezTo>
                  <a:lnTo>
                    <a:pt x="0" y="113867"/>
                  </a:lnTo>
                  <a:cubicBezTo>
                    <a:pt x="0" y="50980"/>
                    <a:pt x="50980" y="0"/>
                    <a:pt x="113867" y="0"/>
                  </a:cubicBezTo>
                  <a:close/>
                </a:path>
              </a:pathLst>
            </a:custGeom>
            <a:solidFill>
              <a:srgbClr val="2E3A44"/>
            </a:solidFill>
            <a:ln w="19050" cap="rnd">
              <a:solidFill>
                <a:srgbClr val="000000"/>
              </a:solidFill>
              <a:prstDash val="solid"/>
              <a:round/>
            </a:ln>
          </p:spPr>
        </p:sp>
        <p:sp>
          <p:nvSpPr>
            <p:cNvPr id="11" name="TextBox 11"/>
            <p:cNvSpPr txBox="1"/>
            <p:nvPr/>
          </p:nvSpPr>
          <p:spPr>
            <a:xfrm>
              <a:off x="0" y="-38100"/>
              <a:ext cx="899406" cy="32823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120672" y="4832190"/>
            <a:ext cx="2835752" cy="555642"/>
          </a:xfrm>
          <a:prstGeom prst="rect">
            <a:avLst/>
          </a:prstGeom>
        </p:spPr>
        <p:txBody>
          <a:bodyPr lIns="0" tIns="0" rIns="0" bIns="0" rtlCol="0" anchor="t">
            <a:spAutoFit/>
          </a:bodyPr>
          <a:lstStyle/>
          <a:p>
            <a:pPr algn="ctr">
              <a:lnSpc>
                <a:spcPts val="4549"/>
              </a:lnSpc>
            </a:pPr>
            <a:r>
              <a:rPr lang="en-US" sz="3249" b="1">
                <a:solidFill>
                  <a:srgbClr val="FFFFFF"/>
                </a:solidFill>
                <a:latin typeface="Nunito Bold"/>
                <a:ea typeface="Nunito Bold"/>
                <a:cs typeface="Nunito Bold"/>
                <a:sym typeface="Nunito Bold"/>
              </a:rPr>
              <a:t>Data Loading</a:t>
            </a:r>
          </a:p>
        </p:txBody>
      </p:sp>
      <p:grpSp>
        <p:nvGrpSpPr>
          <p:cNvPr id="13" name="Group 13"/>
          <p:cNvGrpSpPr/>
          <p:nvPr/>
        </p:nvGrpSpPr>
        <p:grpSpPr>
          <a:xfrm>
            <a:off x="5184736" y="4562017"/>
            <a:ext cx="3472157" cy="1143917"/>
            <a:chOff x="0" y="0"/>
            <a:chExt cx="900602" cy="296707"/>
          </a:xfrm>
        </p:grpSpPr>
        <p:sp>
          <p:nvSpPr>
            <p:cNvPr id="14" name="Freeform 14"/>
            <p:cNvSpPr/>
            <p:nvPr/>
          </p:nvSpPr>
          <p:spPr>
            <a:xfrm>
              <a:off x="0" y="0"/>
              <a:ext cx="900602" cy="296707"/>
            </a:xfrm>
            <a:custGeom>
              <a:avLst/>
              <a:gdLst/>
              <a:ahLst/>
              <a:cxnLst/>
              <a:rect l="l" t="t" r="r" b="b"/>
              <a:pathLst>
                <a:path w="900602" h="296707">
                  <a:moveTo>
                    <a:pt x="113715" y="0"/>
                  </a:moveTo>
                  <a:lnTo>
                    <a:pt x="786887" y="0"/>
                  </a:lnTo>
                  <a:cubicBezTo>
                    <a:pt x="817046" y="0"/>
                    <a:pt x="845970" y="11981"/>
                    <a:pt x="867296" y="33306"/>
                  </a:cubicBezTo>
                  <a:cubicBezTo>
                    <a:pt x="888622" y="54632"/>
                    <a:pt x="900602" y="83556"/>
                    <a:pt x="900602" y="113715"/>
                  </a:cubicBezTo>
                  <a:lnTo>
                    <a:pt x="900602" y="182992"/>
                  </a:lnTo>
                  <a:cubicBezTo>
                    <a:pt x="900602" y="245795"/>
                    <a:pt x="849690" y="296707"/>
                    <a:pt x="786887" y="296707"/>
                  </a:cubicBezTo>
                  <a:lnTo>
                    <a:pt x="113715" y="296707"/>
                  </a:lnTo>
                  <a:cubicBezTo>
                    <a:pt x="83556" y="296707"/>
                    <a:pt x="54632" y="284727"/>
                    <a:pt x="33306" y="263401"/>
                  </a:cubicBezTo>
                  <a:cubicBezTo>
                    <a:pt x="11981" y="242075"/>
                    <a:pt x="0" y="213151"/>
                    <a:pt x="0" y="182992"/>
                  </a:cubicBezTo>
                  <a:lnTo>
                    <a:pt x="0" y="113715"/>
                  </a:lnTo>
                  <a:cubicBezTo>
                    <a:pt x="0" y="83556"/>
                    <a:pt x="11981" y="54632"/>
                    <a:pt x="33306" y="33306"/>
                  </a:cubicBezTo>
                  <a:cubicBezTo>
                    <a:pt x="54632" y="11981"/>
                    <a:pt x="83556" y="0"/>
                    <a:pt x="113715" y="0"/>
                  </a:cubicBezTo>
                  <a:close/>
                </a:path>
              </a:pathLst>
            </a:custGeom>
            <a:solidFill>
              <a:srgbClr val="627484"/>
            </a:solidFill>
            <a:ln w="19050" cap="rnd">
              <a:solidFill>
                <a:srgbClr val="000000"/>
              </a:solidFill>
              <a:prstDash val="solid"/>
              <a:round/>
            </a:ln>
          </p:spPr>
        </p:sp>
        <p:sp>
          <p:nvSpPr>
            <p:cNvPr id="15" name="TextBox 15"/>
            <p:cNvSpPr txBox="1"/>
            <p:nvPr/>
          </p:nvSpPr>
          <p:spPr>
            <a:xfrm>
              <a:off x="0" y="-38100"/>
              <a:ext cx="900602" cy="334807"/>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5257274" y="4823249"/>
            <a:ext cx="3472157" cy="555643"/>
          </a:xfrm>
          <a:prstGeom prst="rect">
            <a:avLst/>
          </a:prstGeom>
        </p:spPr>
        <p:txBody>
          <a:bodyPr lIns="0" tIns="0" rIns="0" bIns="0" rtlCol="0" anchor="t">
            <a:spAutoFit/>
          </a:bodyPr>
          <a:lstStyle/>
          <a:p>
            <a:pPr marL="0" lvl="0" indent="0" algn="ctr">
              <a:lnSpc>
                <a:spcPts val="4549"/>
              </a:lnSpc>
              <a:spcBef>
                <a:spcPct val="0"/>
              </a:spcBef>
            </a:pPr>
            <a:r>
              <a:rPr lang="en-US" sz="3249" b="1">
                <a:solidFill>
                  <a:srgbClr val="FFFFFF"/>
                </a:solidFill>
                <a:latin typeface="Nunito Bold"/>
                <a:ea typeface="Nunito Bold"/>
                <a:cs typeface="Nunito Bold"/>
                <a:sym typeface="Nunito Bold"/>
              </a:rPr>
              <a:t>HOG extraction</a:t>
            </a:r>
          </a:p>
        </p:txBody>
      </p:sp>
      <p:grpSp>
        <p:nvGrpSpPr>
          <p:cNvPr id="17" name="Group 17"/>
          <p:cNvGrpSpPr/>
          <p:nvPr/>
        </p:nvGrpSpPr>
        <p:grpSpPr>
          <a:xfrm>
            <a:off x="9662754" y="4595702"/>
            <a:ext cx="3234903" cy="1097563"/>
            <a:chOff x="0" y="0"/>
            <a:chExt cx="839064" cy="284684"/>
          </a:xfrm>
        </p:grpSpPr>
        <p:sp>
          <p:nvSpPr>
            <p:cNvPr id="18" name="Freeform 18"/>
            <p:cNvSpPr/>
            <p:nvPr/>
          </p:nvSpPr>
          <p:spPr>
            <a:xfrm>
              <a:off x="0" y="0"/>
              <a:ext cx="839064" cy="284684"/>
            </a:xfrm>
            <a:custGeom>
              <a:avLst/>
              <a:gdLst/>
              <a:ahLst/>
              <a:cxnLst/>
              <a:rect l="l" t="t" r="r" b="b"/>
              <a:pathLst>
                <a:path w="839064" h="284684">
                  <a:moveTo>
                    <a:pt x="122056" y="0"/>
                  </a:moveTo>
                  <a:lnTo>
                    <a:pt x="717008" y="0"/>
                  </a:lnTo>
                  <a:cubicBezTo>
                    <a:pt x="749380" y="0"/>
                    <a:pt x="780425" y="12859"/>
                    <a:pt x="803315" y="35749"/>
                  </a:cubicBezTo>
                  <a:cubicBezTo>
                    <a:pt x="826205" y="58639"/>
                    <a:pt x="839064" y="89684"/>
                    <a:pt x="839064" y="122056"/>
                  </a:cubicBezTo>
                  <a:lnTo>
                    <a:pt x="839064" y="162628"/>
                  </a:lnTo>
                  <a:cubicBezTo>
                    <a:pt x="839064" y="195000"/>
                    <a:pt x="826205" y="226045"/>
                    <a:pt x="803315" y="248935"/>
                  </a:cubicBezTo>
                  <a:cubicBezTo>
                    <a:pt x="780425" y="271825"/>
                    <a:pt x="749380" y="284684"/>
                    <a:pt x="717008" y="284684"/>
                  </a:cubicBezTo>
                  <a:lnTo>
                    <a:pt x="122056" y="284684"/>
                  </a:lnTo>
                  <a:cubicBezTo>
                    <a:pt x="89684" y="284684"/>
                    <a:pt x="58639" y="271825"/>
                    <a:pt x="35749" y="248935"/>
                  </a:cubicBezTo>
                  <a:cubicBezTo>
                    <a:pt x="12859" y="226045"/>
                    <a:pt x="0" y="195000"/>
                    <a:pt x="0" y="162628"/>
                  </a:cubicBezTo>
                  <a:lnTo>
                    <a:pt x="0" y="122056"/>
                  </a:lnTo>
                  <a:cubicBezTo>
                    <a:pt x="0" y="89684"/>
                    <a:pt x="12859" y="58639"/>
                    <a:pt x="35749" y="35749"/>
                  </a:cubicBezTo>
                  <a:cubicBezTo>
                    <a:pt x="58639" y="12859"/>
                    <a:pt x="89684" y="0"/>
                    <a:pt x="122056" y="0"/>
                  </a:cubicBezTo>
                  <a:close/>
                </a:path>
              </a:pathLst>
            </a:custGeom>
            <a:solidFill>
              <a:srgbClr val="C0D1DF"/>
            </a:solidFill>
            <a:ln w="19050" cap="rnd">
              <a:solidFill>
                <a:srgbClr val="000000"/>
              </a:solidFill>
              <a:prstDash val="solid"/>
              <a:round/>
            </a:ln>
          </p:spPr>
        </p:sp>
        <p:sp>
          <p:nvSpPr>
            <p:cNvPr id="19" name="TextBox 19"/>
            <p:cNvSpPr txBox="1"/>
            <p:nvPr/>
          </p:nvSpPr>
          <p:spPr>
            <a:xfrm>
              <a:off x="0" y="-38100"/>
              <a:ext cx="839064" cy="322784"/>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9795611" y="4618224"/>
            <a:ext cx="2954785" cy="1005736"/>
          </a:xfrm>
          <a:prstGeom prst="rect">
            <a:avLst/>
          </a:prstGeom>
        </p:spPr>
        <p:txBody>
          <a:bodyPr lIns="0" tIns="0" rIns="0" bIns="0" rtlCol="0" anchor="t">
            <a:spAutoFit/>
          </a:bodyPr>
          <a:lstStyle/>
          <a:p>
            <a:pPr marL="0" lvl="0" indent="0" algn="ctr">
              <a:lnSpc>
                <a:spcPts val="4062"/>
              </a:lnSpc>
              <a:spcBef>
                <a:spcPct val="0"/>
              </a:spcBef>
            </a:pPr>
            <a:r>
              <a:rPr lang="en-US" sz="2901" b="1">
                <a:solidFill>
                  <a:srgbClr val="2E3A44"/>
                </a:solidFill>
                <a:latin typeface="Nunito Bold"/>
                <a:ea typeface="Nunito Bold"/>
                <a:cs typeface="Nunito Bold"/>
                <a:sym typeface="Nunito Bold"/>
              </a:rPr>
              <a:t>Dimensionality Reduction </a:t>
            </a:r>
          </a:p>
        </p:txBody>
      </p:sp>
      <p:grpSp>
        <p:nvGrpSpPr>
          <p:cNvPr id="21" name="Group 21"/>
          <p:cNvGrpSpPr/>
          <p:nvPr/>
        </p:nvGrpSpPr>
        <p:grpSpPr>
          <a:xfrm>
            <a:off x="13758443" y="4618098"/>
            <a:ext cx="3327414" cy="1052769"/>
            <a:chOff x="0" y="0"/>
            <a:chExt cx="863059" cy="273066"/>
          </a:xfrm>
        </p:grpSpPr>
        <p:sp>
          <p:nvSpPr>
            <p:cNvPr id="22" name="Freeform 22"/>
            <p:cNvSpPr/>
            <p:nvPr/>
          </p:nvSpPr>
          <p:spPr>
            <a:xfrm>
              <a:off x="0" y="0"/>
              <a:ext cx="863059" cy="273066"/>
            </a:xfrm>
            <a:custGeom>
              <a:avLst/>
              <a:gdLst/>
              <a:ahLst/>
              <a:cxnLst/>
              <a:rect l="l" t="t" r="r" b="b"/>
              <a:pathLst>
                <a:path w="863059" h="273066">
                  <a:moveTo>
                    <a:pt x="118662" y="0"/>
                  </a:moveTo>
                  <a:lnTo>
                    <a:pt x="744397" y="0"/>
                  </a:lnTo>
                  <a:cubicBezTo>
                    <a:pt x="775868" y="0"/>
                    <a:pt x="806051" y="12502"/>
                    <a:pt x="828304" y="34755"/>
                  </a:cubicBezTo>
                  <a:cubicBezTo>
                    <a:pt x="850557" y="57009"/>
                    <a:pt x="863059" y="87191"/>
                    <a:pt x="863059" y="118662"/>
                  </a:cubicBezTo>
                  <a:lnTo>
                    <a:pt x="863059" y="154404"/>
                  </a:lnTo>
                  <a:cubicBezTo>
                    <a:pt x="863059" y="219939"/>
                    <a:pt x="809932" y="273066"/>
                    <a:pt x="744397" y="273066"/>
                  </a:cubicBezTo>
                  <a:lnTo>
                    <a:pt x="118662" y="273066"/>
                  </a:lnTo>
                  <a:cubicBezTo>
                    <a:pt x="87191" y="273066"/>
                    <a:pt x="57009" y="260564"/>
                    <a:pt x="34755" y="238310"/>
                  </a:cubicBezTo>
                  <a:cubicBezTo>
                    <a:pt x="12502" y="216057"/>
                    <a:pt x="0" y="185875"/>
                    <a:pt x="0" y="154404"/>
                  </a:cubicBezTo>
                  <a:lnTo>
                    <a:pt x="0" y="118662"/>
                  </a:lnTo>
                  <a:cubicBezTo>
                    <a:pt x="0" y="87191"/>
                    <a:pt x="12502" y="57009"/>
                    <a:pt x="34755" y="34755"/>
                  </a:cubicBezTo>
                  <a:cubicBezTo>
                    <a:pt x="57009" y="12502"/>
                    <a:pt x="87191" y="0"/>
                    <a:pt x="118662" y="0"/>
                  </a:cubicBezTo>
                  <a:close/>
                </a:path>
              </a:pathLst>
            </a:custGeom>
            <a:solidFill>
              <a:srgbClr val="E1F3F6"/>
            </a:solidFill>
            <a:ln w="19050" cap="rnd">
              <a:solidFill>
                <a:srgbClr val="000000"/>
              </a:solidFill>
              <a:prstDash val="solid"/>
              <a:round/>
            </a:ln>
          </p:spPr>
        </p:sp>
        <p:sp>
          <p:nvSpPr>
            <p:cNvPr id="23" name="TextBox 23"/>
            <p:cNvSpPr txBox="1"/>
            <p:nvPr/>
          </p:nvSpPr>
          <p:spPr>
            <a:xfrm>
              <a:off x="0" y="-38100"/>
              <a:ext cx="863059" cy="311166"/>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3833717" y="4832774"/>
            <a:ext cx="3176866" cy="437571"/>
          </a:xfrm>
          <a:prstGeom prst="rect">
            <a:avLst/>
          </a:prstGeom>
        </p:spPr>
        <p:txBody>
          <a:bodyPr lIns="0" tIns="0" rIns="0" bIns="0" rtlCol="0" anchor="t">
            <a:spAutoFit/>
          </a:bodyPr>
          <a:lstStyle/>
          <a:p>
            <a:pPr marL="0" lvl="0" indent="0" algn="ctr">
              <a:lnSpc>
                <a:spcPts val="3553"/>
              </a:lnSpc>
              <a:spcBef>
                <a:spcPct val="0"/>
              </a:spcBef>
            </a:pPr>
            <a:r>
              <a:rPr lang="en-US" sz="2538" b="1">
                <a:solidFill>
                  <a:srgbClr val="2E3A44"/>
                </a:solidFill>
                <a:latin typeface="Nunito Bold"/>
                <a:ea typeface="Nunito Bold"/>
                <a:cs typeface="Nunito Bold"/>
                <a:sym typeface="Nunito Bold"/>
              </a:rPr>
              <a:t>Training&amp;</a:t>
            </a:r>
            <a:r>
              <a:rPr lang="en-US" sz="2538" b="1" u="none" strike="noStrike">
                <a:solidFill>
                  <a:srgbClr val="2E3A44"/>
                </a:solidFill>
                <a:latin typeface="Nunito Bold"/>
                <a:ea typeface="Nunito Bold"/>
                <a:cs typeface="Nunito Bold"/>
                <a:sym typeface="Nunito Bold"/>
              </a:rPr>
              <a:t>Evaluation</a:t>
            </a:r>
          </a:p>
        </p:txBody>
      </p:sp>
      <p:sp>
        <p:nvSpPr>
          <p:cNvPr id="25" name="TextBox 25"/>
          <p:cNvSpPr txBox="1"/>
          <p:nvPr/>
        </p:nvSpPr>
        <p:spPr>
          <a:xfrm>
            <a:off x="3360695" y="714375"/>
            <a:ext cx="10573132" cy="1318286"/>
          </a:xfrm>
          <a:prstGeom prst="rect">
            <a:avLst/>
          </a:prstGeom>
        </p:spPr>
        <p:txBody>
          <a:bodyPr lIns="0" tIns="0" rIns="0" bIns="0" rtlCol="0" anchor="t">
            <a:spAutoFit/>
          </a:bodyPr>
          <a:lstStyle/>
          <a:p>
            <a:pPr algn="ctr">
              <a:lnSpc>
                <a:spcPts val="9240"/>
              </a:lnSpc>
            </a:pPr>
            <a:r>
              <a:rPr lang="en-US" sz="6600" b="1">
                <a:solidFill>
                  <a:srgbClr val="2E3A44"/>
                </a:solidFill>
                <a:latin typeface="Nirand Bold"/>
                <a:ea typeface="Nirand Bold"/>
                <a:cs typeface="Nirand Bold"/>
                <a:sym typeface="Nirand Bold"/>
              </a:rPr>
              <a:t>SVM PIPELINE OVERVIEW</a:t>
            </a:r>
          </a:p>
        </p:txBody>
      </p:sp>
      <p:sp>
        <p:nvSpPr>
          <p:cNvPr id="26" name="AutoShape 26"/>
          <p:cNvSpPr/>
          <p:nvPr/>
        </p:nvSpPr>
        <p:spPr>
          <a:xfrm flipV="1">
            <a:off x="4323950" y="5133975"/>
            <a:ext cx="860785" cy="8940"/>
          </a:xfrm>
          <a:prstGeom prst="line">
            <a:avLst/>
          </a:prstGeom>
          <a:ln w="19050" cap="flat">
            <a:solidFill>
              <a:srgbClr val="2E3A44"/>
            </a:solidFill>
            <a:prstDash val="solid"/>
            <a:headEnd type="none" w="sm" len="sm"/>
            <a:tailEnd type="arrow" w="med" len="sm"/>
          </a:ln>
        </p:spPr>
      </p:sp>
      <p:sp>
        <p:nvSpPr>
          <p:cNvPr id="27" name="AutoShape 27"/>
          <p:cNvSpPr/>
          <p:nvPr/>
        </p:nvSpPr>
        <p:spPr>
          <a:xfrm>
            <a:off x="8656893" y="5133975"/>
            <a:ext cx="1005862" cy="10508"/>
          </a:xfrm>
          <a:prstGeom prst="line">
            <a:avLst/>
          </a:prstGeom>
          <a:ln w="19050" cap="flat">
            <a:solidFill>
              <a:srgbClr val="2E3A44"/>
            </a:solidFill>
            <a:prstDash val="solid"/>
            <a:headEnd type="none" w="sm" len="sm"/>
            <a:tailEnd type="arrow" w="med" len="sm"/>
          </a:ln>
        </p:spPr>
      </p:sp>
      <p:sp>
        <p:nvSpPr>
          <p:cNvPr id="28" name="AutoShape 28"/>
          <p:cNvSpPr/>
          <p:nvPr/>
        </p:nvSpPr>
        <p:spPr>
          <a:xfrm>
            <a:off x="12897657" y="5144483"/>
            <a:ext cx="860785" cy="0"/>
          </a:xfrm>
          <a:prstGeom prst="line">
            <a:avLst/>
          </a:prstGeom>
          <a:ln w="19050" cap="flat">
            <a:solidFill>
              <a:srgbClr val="2E3A44"/>
            </a:solidFill>
            <a:prstDash val="solid"/>
            <a:headEnd type="none" w="sm" len="sm"/>
            <a:tailEnd type="arrow" w="med"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0499" y="2538218"/>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88691" y="434784"/>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793144" y="708986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129070" y="645864"/>
            <a:ext cx="11025266" cy="1892353"/>
          </a:xfrm>
          <a:prstGeom prst="rect">
            <a:avLst/>
          </a:prstGeom>
        </p:spPr>
        <p:txBody>
          <a:bodyPr lIns="0" tIns="0" rIns="0" bIns="0" rtlCol="0" anchor="t">
            <a:spAutoFit/>
          </a:bodyPr>
          <a:lstStyle/>
          <a:p>
            <a:pPr algn="l">
              <a:lnSpc>
                <a:spcPts val="7000"/>
              </a:lnSpc>
            </a:pPr>
            <a:r>
              <a:rPr lang="en-US" sz="5000" b="1">
                <a:solidFill>
                  <a:srgbClr val="2E3A44"/>
                </a:solidFill>
                <a:latin typeface="Nirand Bold"/>
                <a:ea typeface="Nirand Bold"/>
                <a:cs typeface="Nirand Bold"/>
                <a:sym typeface="Nirand Bold"/>
              </a:rPr>
              <a:t>DATA LOADING AND FEATURE EXTRACTION</a:t>
            </a:r>
          </a:p>
        </p:txBody>
      </p:sp>
      <p:sp>
        <p:nvSpPr>
          <p:cNvPr id="13" name="TextBox 13"/>
          <p:cNvSpPr txBox="1"/>
          <p:nvPr/>
        </p:nvSpPr>
        <p:spPr>
          <a:xfrm>
            <a:off x="2875265" y="3172073"/>
            <a:ext cx="11874675" cy="3917794"/>
          </a:xfrm>
          <a:prstGeom prst="rect">
            <a:avLst/>
          </a:prstGeom>
        </p:spPr>
        <p:txBody>
          <a:bodyPr lIns="0" tIns="0" rIns="0" bIns="0" rtlCol="0" anchor="t">
            <a:spAutoFit/>
          </a:bodyPr>
          <a:lstStyle/>
          <a:p>
            <a:pPr marL="603361" lvl="1" indent="-301681" algn="l">
              <a:lnSpc>
                <a:spcPts val="3912"/>
              </a:lnSpc>
              <a:buFont typeface="Arial"/>
              <a:buChar char="•"/>
            </a:pPr>
            <a:r>
              <a:rPr lang="en-US" sz="2794" b="1">
                <a:solidFill>
                  <a:srgbClr val="2E3A44"/>
                </a:solidFill>
                <a:latin typeface="Nunito Bold"/>
                <a:ea typeface="Nunito Bold"/>
                <a:cs typeface="Nunito Bold"/>
                <a:sym typeface="Nunito Bold"/>
              </a:rPr>
              <a:t>Metadata loading and sampling </a:t>
            </a:r>
            <a:r>
              <a:rPr lang="en-US" sz="2794">
                <a:solidFill>
                  <a:srgbClr val="2E3A44"/>
                </a:solidFill>
                <a:latin typeface="Nunito"/>
                <a:ea typeface="Nunito"/>
                <a:cs typeface="Nunito"/>
                <a:sym typeface="Nunito"/>
              </a:rPr>
              <a:t>- Image metadata is read from json and a set number of images are randomly sampled.</a:t>
            </a:r>
          </a:p>
          <a:p>
            <a:pPr marL="603361" lvl="1" indent="-301681" algn="l">
              <a:lnSpc>
                <a:spcPts val="3912"/>
              </a:lnSpc>
              <a:buFont typeface="Arial"/>
              <a:buChar char="•"/>
            </a:pPr>
            <a:r>
              <a:rPr lang="en-US" sz="2794" b="1">
                <a:solidFill>
                  <a:srgbClr val="2E3A44"/>
                </a:solidFill>
                <a:latin typeface="Nunito Bold"/>
                <a:ea typeface="Nunito Bold"/>
                <a:cs typeface="Nunito Bold"/>
                <a:sym typeface="Nunito Bold"/>
              </a:rPr>
              <a:t>Data Filtering</a:t>
            </a:r>
            <a:r>
              <a:rPr lang="en-US" sz="2794">
                <a:solidFill>
                  <a:srgbClr val="2E3A44"/>
                </a:solidFill>
                <a:latin typeface="Nunito"/>
                <a:ea typeface="Nunito"/>
                <a:cs typeface="Nunito"/>
                <a:sym typeface="Nunito"/>
              </a:rPr>
              <a:t> - Enforces a filter to ensure item quantity is &lt;= 5.</a:t>
            </a:r>
          </a:p>
          <a:p>
            <a:pPr marL="603361" lvl="1" indent="-301681" algn="l">
              <a:lnSpc>
                <a:spcPts val="3912"/>
              </a:lnSpc>
              <a:buFont typeface="Arial"/>
              <a:buChar char="•"/>
            </a:pPr>
            <a:r>
              <a:rPr lang="en-US" sz="2794">
                <a:solidFill>
                  <a:srgbClr val="2E3A44"/>
                </a:solidFill>
                <a:latin typeface="Nunito"/>
                <a:ea typeface="Nunito"/>
                <a:cs typeface="Nunito"/>
                <a:sym typeface="Nunito"/>
              </a:rPr>
              <a:t>Image Processing and HOG extraction</a:t>
            </a:r>
          </a:p>
          <a:p>
            <a:pPr marL="603361" lvl="1" indent="-301681" algn="l">
              <a:lnSpc>
                <a:spcPts val="3912"/>
              </a:lnSpc>
              <a:buFont typeface="Arial"/>
              <a:buChar char="•"/>
            </a:pPr>
            <a:r>
              <a:rPr lang="en-US" sz="2794" b="1">
                <a:solidFill>
                  <a:srgbClr val="2E3A44"/>
                </a:solidFill>
                <a:latin typeface="Nunito Bold"/>
                <a:ea typeface="Nunito Bold"/>
                <a:cs typeface="Nunito Bold"/>
                <a:sym typeface="Nunito Bold"/>
              </a:rPr>
              <a:t>Memory Optimization</a:t>
            </a:r>
            <a:r>
              <a:rPr lang="en-US" sz="2794">
                <a:solidFill>
                  <a:srgbClr val="2E3A44"/>
                </a:solidFill>
                <a:latin typeface="Nunito"/>
                <a:ea typeface="Nunito"/>
                <a:cs typeface="Nunito"/>
                <a:sym typeface="Nunito"/>
              </a:rPr>
              <a:t> - HOG features are converted from float64 to float32.</a:t>
            </a:r>
          </a:p>
          <a:p>
            <a:pPr marL="603361" lvl="1" indent="-301681" algn="l">
              <a:lnSpc>
                <a:spcPts val="3912"/>
              </a:lnSpc>
              <a:buFont typeface="Arial"/>
              <a:buChar char="•"/>
            </a:pPr>
            <a:r>
              <a:rPr lang="en-US" sz="2794" b="1">
                <a:solidFill>
                  <a:srgbClr val="2E3A44"/>
                </a:solidFill>
                <a:latin typeface="Nunito Bold"/>
                <a:ea typeface="Nunito Bold"/>
                <a:cs typeface="Nunito Bold"/>
                <a:sym typeface="Nunito Bold"/>
              </a:rPr>
              <a:t>Dataset Formation</a:t>
            </a:r>
            <a:r>
              <a:rPr lang="en-US" sz="2794">
                <a:solidFill>
                  <a:srgbClr val="2E3A44"/>
                </a:solidFill>
                <a:latin typeface="Nunito"/>
                <a:ea typeface="Nunito"/>
                <a:cs typeface="Nunito"/>
                <a:sym typeface="Nunito"/>
              </a:rPr>
              <a:t> - Extracted HOG features form the </a:t>
            </a:r>
            <a:r>
              <a:rPr lang="en-US" sz="2794" b="1">
                <a:solidFill>
                  <a:srgbClr val="2E3A44"/>
                </a:solidFill>
                <a:latin typeface="Nunito Bold"/>
                <a:ea typeface="Nunito Bold"/>
                <a:cs typeface="Nunito Bold"/>
                <a:sym typeface="Nunito Bold"/>
              </a:rPr>
              <a:t>feature matrix X</a:t>
            </a:r>
            <a:r>
              <a:rPr lang="en-US" sz="2794">
                <a:solidFill>
                  <a:srgbClr val="2E3A44"/>
                </a:solidFill>
                <a:latin typeface="Nunito"/>
                <a:ea typeface="Nunito"/>
                <a:cs typeface="Nunito"/>
                <a:sym typeface="Nunito"/>
              </a:rPr>
              <a:t> and quantities form the </a:t>
            </a:r>
            <a:r>
              <a:rPr lang="en-US" sz="2794" b="1">
                <a:solidFill>
                  <a:srgbClr val="2E3A44"/>
                </a:solidFill>
                <a:latin typeface="Nunito Bold"/>
                <a:ea typeface="Nunito Bold"/>
                <a:cs typeface="Nunito Bold"/>
                <a:sym typeface="Nunito Bold"/>
              </a:rPr>
              <a:t>label matrix 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42612" y="394769"/>
            <a:ext cx="6880458" cy="688045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3108" y="2540483"/>
            <a:ext cx="3517329" cy="351732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557588" y="727522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03934" y="781050"/>
            <a:ext cx="15049011" cy="1006502"/>
          </a:xfrm>
          <a:prstGeom prst="rect">
            <a:avLst/>
          </a:prstGeom>
        </p:spPr>
        <p:txBody>
          <a:bodyPr lIns="0" tIns="0" rIns="0" bIns="0" rtlCol="0" anchor="t">
            <a:spAutoFit/>
          </a:bodyPr>
          <a:lstStyle/>
          <a:p>
            <a:pPr algn="ctr">
              <a:lnSpc>
                <a:spcPts val="7000"/>
              </a:lnSpc>
            </a:pPr>
            <a:r>
              <a:rPr lang="en-US" sz="5000" b="1">
                <a:solidFill>
                  <a:srgbClr val="2E3A44"/>
                </a:solidFill>
                <a:latin typeface="Nirand Bold"/>
                <a:ea typeface="Nirand Bold"/>
                <a:cs typeface="Nirand Bold"/>
                <a:sym typeface="Nirand Bold"/>
              </a:rPr>
              <a:t>IMAGE PROCESSING + HOG EXTRACTION</a:t>
            </a:r>
          </a:p>
        </p:txBody>
      </p:sp>
      <p:sp>
        <p:nvSpPr>
          <p:cNvPr id="13" name="TextBox 13"/>
          <p:cNvSpPr txBox="1"/>
          <p:nvPr/>
        </p:nvSpPr>
        <p:spPr>
          <a:xfrm>
            <a:off x="2084197" y="2492858"/>
            <a:ext cx="12894371" cy="438812"/>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a:solidFill>
                  <a:srgbClr val="2E3A44"/>
                </a:solidFill>
                <a:latin typeface="Nunito"/>
                <a:ea typeface="Nunito"/>
                <a:cs typeface="Nunito"/>
                <a:sym typeface="Nunito"/>
              </a:rPr>
              <a:t>Each  image is loaded and resized to 224x224.</a:t>
            </a:r>
          </a:p>
        </p:txBody>
      </p:sp>
      <p:sp>
        <p:nvSpPr>
          <p:cNvPr id="14" name="TextBox 14"/>
          <p:cNvSpPr txBox="1"/>
          <p:nvPr/>
        </p:nvSpPr>
        <p:spPr>
          <a:xfrm>
            <a:off x="2084197" y="3636520"/>
            <a:ext cx="13268438" cy="438812"/>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Nunito"/>
                <a:ea typeface="Nunito"/>
                <a:cs typeface="Nunito"/>
                <a:sym typeface="Nunito"/>
              </a:rPr>
              <a:t>It is converted to grayscale.</a:t>
            </a:r>
          </a:p>
        </p:txBody>
      </p:sp>
      <p:sp>
        <p:nvSpPr>
          <p:cNvPr id="15" name="TextBox 15"/>
          <p:cNvSpPr txBox="1"/>
          <p:nvPr/>
        </p:nvSpPr>
        <p:spPr>
          <a:xfrm>
            <a:off x="2084197" y="4780182"/>
            <a:ext cx="13268438" cy="896039"/>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Nunito"/>
                <a:ea typeface="Nunito"/>
                <a:cs typeface="Nunito"/>
                <a:sym typeface="Nunito"/>
              </a:rPr>
              <a:t>Edge Detection - A laplacian filter is applied to enhance edges and the result is normalized. This highlights shape information.</a:t>
            </a:r>
          </a:p>
        </p:txBody>
      </p:sp>
      <p:sp>
        <p:nvSpPr>
          <p:cNvPr id="16" name="TextBox 16"/>
          <p:cNvSpPr txBox="1"/>
          <p:nvPr/>
        </p:nvSpPr>
        <p:spPr>
          <a:xfrm>
            <a:off x="2174174" y="6175934"/>
            <a:ext cx="13268438" cy="905564"/>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Open Sans"/>
                <a:ea typeface="Open Sans"/>
                <a:cs typeface="Open Sans"/>
                <a:sym typeface="Open Sans"/>
              </a:rPr>
              <a:t>HOG Feature Calculation - HOG Features are computed . This is done using parameters like orientations, pixels_per_cell, cells_per_block, etc.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42612" y="394769"/>
            <a:ext cx="6880458" cy="688045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3108" y="2540483"/>
            <a:ext cx="3517329" cy="351732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557588" y="727522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14307" y="739395"/>
            <a:ext cx="15049011" cy="1006475"/>
          </a:xfrm>
          <a:prstGeom prst="rect">
            <a:avLst/>
          </a:prstGeom>
        </p:spPr>
        <p:txBody>
          <a:bodyPr lIns="0" tIns="0" rIns="0" bIns="0" rtlCol="0" anchor="t">
            <a:spAutoFit/>
          </a:bodyPr>
          <a:lstStyle/>
          <a:p>
            <a:pPr algn="ctr">
              <a:lnSpc>
                <a:spcPts val="7000"/>
              </a:lnSpc>
            </a:pPr>
            <a:r>
              <a:rPr lang="en-US" sz="5000" b="1">
                <a:solidFill>
                  <a:srgbClr val="2E3A44"/>
                </a:solidFill>
                <a:latin typeface="Nirand Bold"/>
                <a:ea typeface="Nirand Bold"/>
                <a:cs typeface="Nirand Bold"/>
                <a:sym typeface="Nirand Bold"/>
              </a:rPr>
              <a:t>DIMENSIONALITY REDUCTION</a:t>
            </a:r>
          </a:p>
        </p:txBody>
      </p:sp>
      <p:sp>
        <p:nvSpPr>
          <p:cNvPr id="13" name="TextBox 13"/>
          <p:cNvSpPr txBox="1"/>
          <p:nvPr/>
        </p:nvSpPr>
        <p:spPr>
          <a:xfrm>
            <a:off x="1994220" y="2079272"/>
            <a:ext cx="12894371" cy="1353185"/>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u="none" strike="noStrike">
                <a:solidFill>
                  <a:srgbClr val="2E3A44"/>
                </a:solidFill>
                <a:latin typeface="Nunito"/>
                <a:ea typeface="Nunito"/>
                <a:cs typeface="Nunito"/>
                <a:sym typeface="Nunito"/>
              </a:rPr>
              <a:t>Dimensionality reduction using PCA minimizes spatial complexity while preserving variance by projecting the original features onto a lower-dimensional hyperplane derived from the covariance matrix</a:t>
            </a:r>
          </a:p>
        </p:txBody>
      </p:sp>
      <p:sp>
        <p:nvSpPr>
          <p:cNvPr id="14" name="TextBox 14"/>
          <p:cNvSpPr txBox="1"/>
          <p:nvPr/>
        </p:nvSpPr>
        <p:spPr>
          <a:xfrm>
            <a:off x="1994220" y="3929093"/>
            <a:ext cx="13268438" cy="895986"/>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Nunito"/>
                <a:ea typeface="Nunito"/>
                <a:cs typeface="Nunito"/>
                <a:sym typeface="Nunito"/>
              </a:rPr>
              <a:t>Since the initial HOG features (15,488 features) are high-dimensional, PCA is applied to reduce the feature space.</a:t>
            </a:r>
          </a:p>
        </p:txBody>
      </p:sp>
      <p:sp>
        <p:nvSpPr>
          <p:cNvPr id="15" name="TextBox 15"/>
          <p:cNvSpPr txBox="1"/>
          <p:nvPr/>
        </p:nvSpPr>
        <p:spPr>
          <a:xfrm>
            <a:off x="2084197" y="5403345"/>
            <a:ext cx="13268438" cy="895986"/>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Nunito"/>
                <a:ea typeface="Nunito"/>
                <a:cs typeface="Nunito"/>
                <a:sym typeface="Nunito"/>
              </a:rPr>
              <a:t>Fitting: A PCA object is initialized with n_components = PCA_COMPONENTS (500) and fitted only on the training data (Xtrain​).</a:t>
            </a:r>
          </a:p>
        </p:txBody>
      </p:sp>
      <p:sp>
        <p:nvSpPr>
          <p:cNvPr id="16" name="TextBox 16"/>
          <p:cNvSpPr txBox="1"/>
          <p:nvPr/>
        </p:nvSpPr>
        <p:spPr>
          <a:xfrm>
            <a:off x="1994220" y="6868072"/>
            <a:ext cx="13268438" cy="1362711"/>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Open Sans"/>
                <a:ea typeface="Open Sans"/>
                <a:cs typeface="Open Sans"/>
                <a:sym typeface="Open Sans"/>
              </a:rPr>
              <a:t>Transformation: Both Xtrain​ and Xtest​ are transformed to the lower-dimensional space (500 features). This significantly reduces the computational and memory requirements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42612" y="394769"/>
            <a:ext cx="6880458" cy="688045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3108" y="2540483"/>
            <a:ext cx="3517329" cy="351732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557588" y="727522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14307" y="739395"/>
            <a:ext cx="15049011" cy="1006502"/>
          </a:xfrm>
          <a:prstGeom prst="rect">
            <a:avLst/>
          </a:prstGeom>
        </p:spPr>
        <p:txBody>
          <a:bodyPr lIns="0" tIns="0" rIns="0" bIns="0" rtlCol="0" anchor="t">
            <a:spAutoFit/>
          </a:bodyPr>
          <a:lstStyle/>
          <a:p>
            <a:pPr algn="ctr">
              <a:lnSpc>
                <a:spcPts val="7000"/>
              </a:lnSpc>
            </a:pPr>
            <a:r>
              <a:rPr lang="en-US" sz="5000" b="1">
                <a:solidFill>
                  <a:srgbClr val="2E3A44"/>
                </a:solidFill>
                <a:latin typeface="Nirand Bold"/>
                <a:ea typeface="Nirand Bold"/>
                <a:cs typeface="Nirand Bold"/>
                <a:sym typeface="Nirand Bold"/>
              </a:rPr>
              <a:t>TRAINING AND EVALUATION</a:t>
            </a:r>
          </a:p>
        </p:txBody>
      </p:sp>
      <p:sp>
        <p:nvSpPr>
          <p:cNvPr id="13" name="TextBox 13"/>
          <p:cNvSpPr txBox="1"/>
          <p:nvPr/>
        </p:nvSpPr>
        <p:spPr>
          <a:xfrm>
            <a:off x="1994220" y="2079272"/>
            <a:ext cx="12894371" cy="896038"/>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a:solidFill>
                  <a:srgbClr val="2E3A44"/>
                </a:solidFill>
                <a:latin typeface="Nunito"/>
                <a:ea typeface="Nunito"/>
                <a:cs typeface="Nunito"/>
                <a:sym typeface="Nunito"/>
              </a:rPr>
              <a:t>Grid Search Setup: A Support Vector Classification (SVC) model is trained using GridSearchCV to find the optimal hyperparameters for each kernel.</a:t>
            </a:r>
          </a:p>
        </p:txBody>
      </p:sp>
      <p:sp>
        <p:nvSpPr>
          <p:cNvPr id="14" name="TextBox 14"/>
          <p:cNvSpPr txBox="1"/>
          <p:nvPr/>
        </p:nvSpPr>
        <p:spPr>
          <a:xfrm>
            <a:off x="1994220" y="3403109"/>
            <a:ext cx="13268438" cy="895986"/>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Nunito"/>
                <a:ea typeface="Nunito"/>
                <a:cs typeface="Nunito"/>
                <a:sym typeface="Nunito"/>
              </a:rPr>
              <a:t>The search is performed over a reduced set of hyperparameters for two common SVM kernels:  Kernel: RBF (Radial Basis Function) and poly (Polynomial)</a:t>
            </a:r>
          </a:p>
        </p:txBody>
      </p:sp>
      <p:sp>
        <p:nvSpPr>
          <p:cNvPr id="15" name="TextBox 15"/>
          <p:cNvSpPr txBox="1"/>
          <p:nvPr/>
        </p:nvSpPr>
        <p:spPr>
          <a:xfrm>
            <a:off x="1994220" y="4632470"/>
            <a:ext cx="13268438" cy="3182172"/>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2E3A44"/>
                </a:solidFill>
                <a:latin typeface="Nunito"/>
                <a:ea typeface="Nunito"/>
                <a:cs typeface="Nunito"/>
                <a:sym typeface="Nunito"/>
              </a:rPr>
              <a:t>The SVM is used to make predictions on a test set, and these predictions are used to evaluate the model on metrics like:</a:t>
            </a:r>
          </a:p>
          <a:p>
            <a:pPr marL="2245343" lvl="4" indent="-449069" algn="l">
              <a:lnSpc>
                <a:spcPts val="3639"/>
              </a:lnSpc>
              <a:buFont typeface="Arial"/>
              <a:buChar char="•"/>
            </a:pPr>
            <a:r>
              <a:rPr lang="en-US" sz="2599">
                <a:solidFill>
                  <a:srgbClr val="2E3A44"/>
                </a:solidFill>
                <a:latin typeface="Nunito"/>
                <a:ea typeface="Nunito"/>
                <a:cs typeface="Nunito"/>
                <a:sym typeface="Nunito"/>
              </a:rPr>
              <a:t>Accuracy: 28.1% (RBF)</a:t>
            </a:r>
          </a:p>
          <a:p>
            <a:pPr marL="2245343" lvl="4" indent="-449069" algn="l">
              <a:lnSpc>
                <a:spcPts val="3639"/>
              </a:lnSpc>
              <a:buFont typeface="Arial"/>
              <a:buChar char="•"/>
            </a:pPr>
            <a:r>
              <a:rPr lang="en-US" sz="2599">
                <a:solidFill>
                  <a:srgbClr val="2E3A44"/>
                </a:solidFill>
                <a:latin typeface="Nunito"/>
                <a:ea typeface="Nunito"/>
                <a:cs typeface="Nunito"/>
                <a:sym typeface="Nunito"/>
              </a:rPr>
              <a:t>Precision</a:t>
            </a:r>
          </a:p>
          <a:p>
            <a:pPr marL="2245343" lvl="4" indent="-449069" algn="l">
              <a:lnSpc>
                <a:spcPts val="3639"/>
              </a:lnSpc>
              <a:buFont typeface="Arial"/>
              <a:buChar char="•"/>
            </a:pPr>
            <a:r>
              <a:rPr lang="en-US" sz="2599">
                <a:solidFill>
                  <a:srgbClr val="2E3A44"/>
                </a:solidFill>
                <a:latin typeface="Nunito"/>
                <a:ea typeface="Nunito"/>
                <a:cs typeface="Nunito"/>
                <a:sym typeface="Nunito"/>
              </a:rPr>
              <a:t>Recall</a:t>
            </a:r>
          </a:p>
          <a:p>
            <a:pPr marL="2245343" lvl="4" indent="-449069" algn="l">
              <a:lnSpc>
                <a:spcPts val="3639"/>
              </a:lnSpc>
              <a:buFont typeface="Arial"/>
              <a:buChar char="•"/>
            </a:pPr>
            <a:r>
              <a:rPr lang="en-US" sz="2599">
                <a:solidFill>
                  <a:srgbClr val="2E3A44"/>
                </a:solidFill>
                <a:latin typeface="Nunito"/>
                <a:ea typeface="Nunito"/>
                <a:cs typeface="Nunito"/>
                <a:sym typeface="Nunito"/>
              </a:rPr>
              <a:t>F1 Score</a:t>
            </a:r>
          </a:p>
          <a:p>
            <a:pPr marL="2245343" lvl="4" indent="-449069" algn="l">
              <a:lnSpc>
                <a:spcPts val="3639"/>
              </a:lnSpc>
              <a:buFont typeface="Arial"/>
              <a:buChar char="•"/>
            </a:pPr>
            <a:r>
              <a:rPr lang="en-US" sz="2599">
                <a:solidFill>
                  <a:srgbClr val="2E3A44"/>
                </a:solidFill>
                <a:latin typeface="Nunito"/>
                <a:ea typeface="Nunito"/>
                <a:cs typeface="Nunito"/>
                <a:sym typeface="Nunito"/>
              </a:rPr>
              <a:t>Confusion Matrix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17447" y="7372841"/>
            <a:ext cx="8028675" cy="802867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sp>
      <p:sp>
        <p:nvSpPr>
          <p:cNvPr id="6" name="Freeform 6"/>
          <p:cNvSpPr/>
          <p:nvPr/>
        </p:nvSpPr>
        <p:spPr>
          <a:xfrm>
            <a:off x="-3175849" y="0"/>
            <a:ext cx="7623047" cy="10361046"/>
          </a:xfrm>
          <a:custGeom>
            <a:avLst/>
            <a:gdLst/>
            <a:ahLst/>
            <a:cxnLst/>
            <a:rect l="l" t="t" r="r" b="b"/>
            <a:pathLst>
              <a:path w="7623047" h="10361046">
                <a:moveTo>
                  <a:pt x="0" y="0"/>
                </a:moveTo>
                <a:lnTo>
                  <a:pt x="7623047" y="0"/>
                </a:lnTo>
                <a:lnTo>
                  <a:pt x="7623047" y="10361046"/>
                </a:lnTo>
                <a:lnTo>
                  <a:pt x="0" y="10361046"/>
                </a:lnTo>
                <a:lnTo>
                  <a:pt x="0" y="0"/>
                </a:lnTo>
                <a:close/>
              </a:path>
            </a:pathLst>
          </a:custGeom>
          <a:blipFill>
            <a:blip r:embed="rId2"/>
            <a:stretch>
              <a:fillRect l="-52165" r="-42001"/>
            </a:stretch>
          </a:blipFill>
        </p:spPr>
      </p:sp>
      <p:sp>
        <p:nvSpPr>
          <p:cNvPr id="7" name="TextBox 7"/>
          <p:cNvSpPr txBox="1"/>
          <p:nvPr/>
        </p:nvSpPr>
        <p:spPr>
          <a:xfrm>
            <a:off x="1521636" y="-289586"/>
            <a:ext cx="15244727" cy="1318286"/>
          </a:xfrm>
          <a:prstGeom prst="rect">
            <a:avLst/>
          </a:prstGeom>
        </p:spPr>
        <p:txBody>
          <a:bodyPr lIns="0" tIns="0" rIns="0" bIns="0" rtlCol="0" anchor="t">
            <a:spAutoFit/>
          </a:bodyPr>
          <a:lstStyle/>
          <a:p>
            <a:pPr algn="ctr">
              <a:lnSpc>
                <a:spcPts val="9240"/>
              </a:lnSpc>
            </a:pPr>
            <a:r>
              <a:rPr lang="en-US" sz="6600" b="1">
                <a:solidFill>
                  <a:srgbClr val="FFFFFF"/>
                </a:solidFill>
                <a:latin typeface="Nirand Bold"/>
                <a:ea typeface="Nirand Bold"/>
                <a:cs typeface="Nirand Bold"/>
                <a:sym typeface="Nirand Bold"/>
              </a:rPr>
              <a:t>CONV</a:t>
            </a:r>
            <a:r>
              <a:rPr lang="en-US" sz="6600" b="1">
                <a:solidFill>
                  <a:srgbClr val="2E3A44"/>
                </a:solidFill>
                <a:latin typeface="Nirand Bold"/>
                <a:ea typeface="Nirand Bold"/>
                <a:cs typeface="Nirand Bold"/>
                <a:sym typeface="Nirand Bold"/>
              </a:rPr>
              <a:t>OLUTION NEURAL NETWORK</a:t>
            </a:r>
          </a:p>
        </p:txBody>
      </p:sp>
      <p:sp>
        <p:nvSpPr>
          <p:cNvPr id="8" name="TextBox 8"/>
          <p:cNvSpPr txBox="1"/>
          <p:nvPr/>
        </p:nvSpPr>
        <p:spPr>
          <a:xfrm>
            <a:off x="4447198" y="2356189"/>
            <a:ext cx="13453639" cy="4356224"/>
          </a:xfrm>
          <a:prstGeom prst="rect">
            <a:avLst/>
          </a:prstGeom>
        </p:spPr>
        <p:txBody>
          <a:bodyPr lIns="0" tIns="0" rIns="0" bIns="0" rtlCol="0" anchor="t">
            <a:spAutoFit/>
          </a:bodyPr>
          <a:lstStyle/>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A Convolutional Neural Network (CNN) is a type of deep learning model designed to process and analyze visual data.</a:t>
            </a:r>
          </a:p>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It automatically learns spatial features — such as edges, textures, and shapes — directly from images.</a:t>
            </a:r>
          </a:p>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CNNs consist of layers that progressively extract higher-level patterns:</a:t>
            </a:r>
          </a:p>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Convolution Layers: Detect visual features (edges, corners, etc.)</a:t>
            </a:r>
          </a:p>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Pooling Layers: Reduce spatial dimensions while retaining key information</a:t>
            </a:r>
          </a:p>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Fully Connected Layers: Combine learned features for final classification</a:t>
            </a:r>
          </a:p>
          <a:p>
            <a:pPr marL="596040" lvl="1" indent="-298020" algn="l">
              <a:lnSpc>
                <a:spcPts val="3865"/>
              </a:lnSpc>
              <a:spcBef>
                <a:spcPct val="0"/>
              </a:spcBef>
              <a:buFont typeface="Arial"/>
              <a:buChar char="•"/>
            </a:pPr>
            <a:r>
              <a:rPr lang="en-US" sz="2760" u="none" strike="noStrike">
                <a:solidFill>
                  <a:srgbClr val="2E3A44"/>
                </a:solidFill>
                <a:latin typeface="Nunito"/>
                <a:ea typeface="Nunito"/>
                <a:cs typeface="Nunito"/>
                <a:sym typeface="Nunito"/>
              </a:rPr>
              <a:t>Widely used in image classification, object detection, and computer vision tasks.</a:t>
            </a:r>
          </a:p>
        </p:txBody>
      </p:sp>
      <p:sp>
        <p:nvSpPr>
          <p:cNvPr id="9" name="AutoShape 9"/>
          <p:cNvSpPr/>
          <p:nvPr/>
        </p:nvSpPr>
        <p:spPr>
          <a:xfrm>
            <a:off x="1057862" y="9277350"/>
            <a:ext cx="3389336" cy="0"/>
          </a:xfrm>
          <a:prstGeom prst="line">
            <a:avLst/>
          </a:prstGeom>
          <a:ln w="38100" cap="flat">
            <a:solidFill>
              <a:srgbClr val="FFFFFF"/>
            </a:solidFill>
            <a:prstDash val="solid"/>
            <a:headEnd type="oval" w="lg" len="lg"/>
            <a:tailEnd type="oval" w="lg" len="lg"/>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17447" y="7372841"/>
            <a:ext cx="8028675" cy="802867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6" name="Group 6"/>
          <p:cNvGrpSpPr/>
          <p:nvPr/>
        </p:nvGrpSpPr>
        <p:grpSpPr>
          <a:xfrm>
            <a:off x="-748782" y="-1201665"/>
            <a:ext cx="2230365" cy="22303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76212" y="4583626"/>
            <a:ext cx="3575073" cy="1118578"/>
            <a:chOff x="0" y="0"/>
            <a:chExt cx="927297" cy="290135"/>
          </a:xfrm>
        </p:grpSpPr>
        <p:sp>
          <p:nvSpPr>
            <p:cNvPr id="10" name="Freeform 10"/>
            <p:cNvSpPr/>
            <p:nvPr/>
          </p:nvSpPr>
          <p:spPr>
            <a:xfrm>
              <a:off x="0" y="0"/>
              <a:ext cx="927297" cy="290135"/>
            </a:xfrm>
            <a:custGeom>
              <a:avLst/>
              <a:gdLst/>
              <a:ahLst/>
              <a:cxnLst/>
              <a:rect l="l" t="t" r="r" b="b"/>
              <a:pathLst>
                <a:path w="927297" h="290135">
                  <a:moveTo>
                    <a:pt x="110442" y="0"/>
                  </a:moveTo>
                  <a:lnTo>
                    <a:pt x="816855" y="0"/>
                  </a:lnTo>
                  <a:cubicBezTo>
                    <a:pt x="846146" y="0"/>
                    <a:pt x="874237" y="11636"/>
                    <a:pt x="894949" y="32348"/>
                  </a:cubicBezTo>
                  <a:cubicBezTo>
                    <a:pt x="915661" y="53060"/>
                    <a:pt x="927297" y="81151"/>
                    <a:pt x="927297" y="110442"/>
                  </a:cubicBezTo>
                  <a:lnTo>
                    <a:pt x="927297" y="179693"/>
                  </a:lnTo>
                  <a:cubicBezTo>
                    <a:pt x="927297" y="208984"/>
                    <a:pt x="915661" y="237075"/>
                    <a:pt x="894949" y="257787"/>
                  </a:cubicBezTo>
                  <a:cubicBezTo>
                    <a:pt x="874237" y="278499"/>
                    <a:pt x="846146" y="290135"/>
                    <a:pt x="816855" y="290135"/>
                  </a:cubicBezTo>
                  <a:lnTo>
                    <a:pt x="110442" y="290135"/>
                  </a:lnTo>
                  <a:cubicBezTo>
                    <a:pt x="81151" y="290135"/>
                    <a:pt x="53060" y="278499"/>
                    <a:pt x="32348" y="257787"/>
                  </a:cubicBezTo>
                  <a:cubicBezTo>
                    <a:pt x="11636" y="237075"/>
                    <a:pt x="0" y="208984"/>
                    <a:pt x="0" y="179693"/>
                  </a:cubicBezTo>
                  <a:lnTo>
                    <a:pt x="0" y="110442"/>
                  </a:lnTo>
                  <a:cubicBezTo>
                    <a:pt x="0" y="81151"/>
                    <a:pt x="11636" y="53060"/>
                    <a:pt x="32348" y="32348"/>
                  </a:cubicBezTo>
                  <a:cubicBezTo>
                    <a:pt x="53060" y="11636"/>
                    <a:pt x="81151" y="0"/>
                    <a:pt x="110442" y="0"/>
                  </a:cubicBezTo>
                  <a:close/>
                </a:path>
              </a:pathLst>
            </a:custGeom>
            <a:solidFill>
              <a:srgbClr val="2E3A44"/>
            </a:solidFill>
            <a:ln w="19050" cap="rnd">
              <a:solidFill>
                <a:srgbClr val="000000"/>
              </a:solidFill>
              <a:prstDash val="solid"/>
              <a:round/>
            </a:ln>
          </p:spPr>
        </p:sp>
        <p:sp>
          <p:nvSpPr>
            <p:cNvPr id="11" name="TextBox 11"/>
            <p:cNvSpPr txBox="1"/>
            <p:nvPr/>
          </p:nvSpPr>
          <p:spPr>
            <a:xfrm>
              <a:off x="0" y="-38100"/>
              <a:ext cx="927297" cy="32823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676212" y="4823249"/>
            <a:ext cx="3576517" cy="555642"/>
          </a:xfrm>
          <a:prstGeom prst="rect">
            <a:avLst/>
          </a:prstGeom>
        </p:spPr>
        <p:txBody>
          <a:bodyPr lIns="0" tIns="0" rIns="0" bIns="0" rtlCol="0" anchor="t">
            <a:spAutoFit/>
          </a:bodyPr>
          <a:lstStyle/>
          <a:p>
            <a:pPr algn="ctr">
              <a:lnSpc>
                <a:spcPts val="4549"/>
              </a:lnSpc>
            </a:pPr>
            <a:r>
              <a:rPr lang="en-US" sz="3249" b="1">
                <a:solidFill>
                  <a:srgbClr val="FFFFFF"/>
                </a:solidFill>
                <a:latin typeface="Nunito Bold"/>
                <a:ea typeface="Nunito Bold"/>
                <a:cs typeface="Nunito Bold"/>
                <a:sym typeface="Nunito Bold"/>
              </a:rPr>
              <a:t>Data Preperation</a:t>
            </a:r>
          </a:p>
        </p:txBody>
      </p:sp>
      <p:grpSp>
        <p:nvGrpSpPr>
          <p:cNvPr id="13" name="Group 13"/>
          <p:cNvGrpSpPr/>
          <p:nvPr/>
        </p:nvGrpSpPr>
        <p:grpSpPr>
          <a:xfrm>
            <a:off x="5184736" y="4562017"/>
            <a:ext cx="3472157" cy="1143917"/>
            <a:chOff x="0" y="0"/>
            <a:chExt cx="900602" cy="296707"/>
          </a:xfrm>
        </p:grpSpPr>
        <p:sp>
          <p:nvSpPr>
            <p:cNvPr id="14" name="Freeform 14"/>
            <p:cNvSpPr/>
            <p:nvPr/>
          </p:nvSpPr>
          <p:spPr>
            <a:xfrm>
              <a:off x="0" y="0"/>
              <a:ext cx="900602" cy="296707"/>
            </a:xfrm>
            <a:custGeom>
              <a:avLst/>
              <a:gdLst/>
              <a:ahLst/>
              <a:cxnLst/>
              <a:rect l="l" t="t" r="r" b="b"/>
              <a:pathLst>
                <a:path w="900602" h="296707">
                  <a:moveTo>
                    <a:pt x="113715" y="0"/>
                  </a:moveTo>
                  <a:lnTo>
                    <a:pt x="786887" y="0"/>
                  </a:lnTo>
                  <a:cubicBezTo>
                    <a:pt x="817046" y="0"/>
                    <a:pt x="845970" y="11981"/>
                    <a:pt x="867296" y="33306"/>
                  </a:cubicBezTo>
                  <a:cubicBezTo>
                    <a:pt x="888622" y="54632"/>
                    <a:pt x="900602" y="83556"/>
                    <a:pt x="900602" y="113715"/>
                  </a:cubicBezTo>
                  <a:lnTo>
                    <a:pt x="900602" y="182992"/>
                  </a:lnTo>
                  <a:cubicBezTo>
                    <a:pt x="900602" y="245795"/>
                    <a:pt x="849690" y="296707"/>
                    <a:pt x="786887" y="296707"/>
                  </a:cubicBezTo>
                  <a:lnTo>
                    <a:pt x="113715" y="296707"/>
                  </a:lnTo>
                  <a:cubicBezTo>
                    <a:pt x="83556" y="296707"/>
                    <a:pt x="54632" y="284727"/>
                    <a:pt x="33306" y="263401"/>
                  </a:cubicBezTo>
                  <a:cubicBezTo>
                    <a:pt x="11981" y="242075"/>
                    <a:pt x="0" y="213151"/>
                    <a:pt x="0" y="182992"/>
                  </a:cubicBezTo>
                  <a:lnTo>
                    <a:pt x="0" y="113715"/>
                  </a:lnTo>
                  <a:cubicBezTo>
                    <a:pt x="0" y="83556"/>
                    <a:pt x="11981" y="54632"/>
                    <a:pt x="33306" y="33306"/>
                  </a:cubicBezTo>
                  <a:cubicBezTo>
                    <a:pt x="54632" y="11981"/>
                    <a:pt x="83556" y="0"/>
                    <a:pt x="113715" y="0"/>
                  </a:cubicBezTo>
                  <a:close/>
                </a:path>
              </a:pathLst>
            </a:custGeom>
            <a:solidFill>
              <a:srgbClr val="627484"/>
            </a:solidFill>
            <a:ln w="19050" cap="rnd">
              <a:solidFill>
                <a:srgbClr val="000000"/>
              </a:solidFill>
              <a:prstDash val="solid"/>
              <a:round/>
            </a:ln>
          </p:spPr>
        </p:sp>
        <p:sp>
          <p:nvSpPr>
            <p:cNvPr id="15" name="TextBox 15"/>
            <p:cNvSpPr txBox="1"/>
            <p:nvPr/>
          </p:nvSpPr>
          <p:spPr>
            <a:xfrm>
              <a:off x="0" y="-38100"/>
              <a:ext cx="900602" cy="334807"/>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5014379" y="4777405"/>
            <a:ext cx="3886726" cy="555643"/>
          </a:xfrm>
          <a:prstGeom prst="rect">
            <a:avLst/>
          </a:prstGeom>
        </p:spPr>
        <p:txBody>
          <a:bodyPr lIns="0" tIns="0" rIns="0" bIns="0" rtlCol="0" anchor="t">
            <a:spAutoFit/>
          </a:bodyPr>
          <a:lstStyle/>
          <a:p>
            <a:pPr marL="0" lvl="0" indent="0" algn="ctr">
              <a:lnSpc>
                <a:spcPts val="4549"/>
              </a:lnSpc>
              <a:spcBef>
                <a:spcPct val="0"/>
              </a:spcBef>
            </a:pPr>
            <a:r>
              <a:rPr lang="en-US" sz="3249" b="1">
                <a:solidFill>
                  <a:srgbClr val="FFFFFF"/>
                </a:solidFill>
                <a:latin typeface="Nunito Bold"/>
                <a:ea typeface="Nunito Bold"/>
                <a:cs typeface="Nunito Bold"/>
                <a:sym typeface="Nunito Bold"/>
              </a:rPr>
              <a:t>Architecture</a:t>
            </a:r>
          </a:p>
        </p:txBody>
      </p:sp>
      <p:grpSp>
        <p:nvGrpSpPr>
          <p:cNvPr id="17" name="Group 17"/>
          <p:cNvGrpSpPr/>
          <p:nvPr/>
        </p:nvGrpSpPr>
        <p:grpSpPr>
          <a:xfrm>
            <a:off x="9662754" y="4595702"/>
            <a:ext cx="3234903" cy="1097563"/>
            <a:chOff x="0" y="0"/>
            <a:chExt cx="839064" cy="284684"/>
          </a:xfrm>
        </p:grpSpPr>
        <p:sp>
          <p:nvSpPr>
            <p:cNvPr id="18" name="Freeform 18"/>
            <p:cNvSpPr/>
            <p:nvPr/>
          </p:nvSpPr>
          <p:spPr>
            <a:xfrm>
              <a:off x="0" y="0"/>
              <a:ext cx="839064" cy="284684"/>
            </a:xfrm>
            <a:custGeom>
              <a:avLst/>
              <a:gdLst/>
              <a:ahLst/>
              <a:cxnLst/>
              <a:rect l="l" t="t" r="r" b="b"/>
              <a:pathLst>
                <a:path w="839064" h="284684">
                  <a:moveTo>
                    <a:pt x="122056" y="0"/>
                  </a:moveTo>
                  <a:lnTo>
                    <a:pt x="717008" y="0"/>
                  </a:lnTo>
                  <a:cubicBezTo>
                    <a:pt x="749380" y="0"/>
                    <a:pt x="780425" y="12859"/>
                    <a:pt x="803315" y="35749"/>
                  </a:cubicBezTo>
                  <a:cubicBezTo>
                    <a:pt x="826205" y="58639"/>
                    <a:pt x="839064" y="89684"/>
                    <a:pt x="839064" y="122056"/>
                  </a:cubicBezTo>
                  <a:lnTo>
                    <a:pt x="839064" y="162628"/>
                  </a:lnTo>
                  <a:cubicBezTo>
                    <a:pt x="839064" y="195000"/>
                    <a:pt x="826205" y="226045"/>
                    <a:pt x="803315" y="248935"/>
                  </a:cubicBezTo>
                  <a:cubicBezTo>
                    <a:pt x="780425" y="271825"/>
                    <a:pt x="749380" y="284684"/>
                    <a:pt x="717008" y="284684"/>
                  </a:cubicBezTo>
                  <a:lnTo>
                    <a:pt x="122056" y="284684"/>
                  </a:lnTo>
                  <a:cubicBezTo>
                    <a:pt x="89684" y="284684"/>
                    <a:pt x="58639" y="271825"/>
                    <a:pt x="35749" y="248935"/>
                  </a:cubicBezTo>
                  <a:cubicBezTo>
                    <a:pt x="12859" y="226045"/>
                    <a:pt x="0" y="195000"/>
                    <a:pt x="0" y="162628"/>
                  </a:cubicBezTo>
                  <a:lnTo>
                    <a:pt x="0" y="122056"/>
                  </a:lnTo>
                  <a:cubicBezTo>
                    <a:pt x="0" y="89684"/>
                    <a:pt x="12859" y="58639"/>
                    <a:pt x="35749" y="35749"/>
                  </a:cubicBezTo>
                  <a:cubicBezTo>
                    <a:pt x="58639" y="12859"/>
                    <a:pt x="89684" y="0"/>
                    <a:pt x="122056" y="0"/>
                  </a:cubicBezTo>
                  <a:close/>
                </a:path>
              </a:pathLst>
            </a:custGeom>
            <a:solidFill>
              <a:srgbClr val="C0D1DF"/>
            </a:solidFill>
            <a:ln w="19050" cap="rnd">
              <a:solidFill>
                <a:srgbClr val="000000"/>
              </a:solidFill>
              <a:prstDash val="solid"/>
              <a:round/>
            </a:ln>
          </p:spPr>
        </p:sp>
        <p:sp>
          <p:nvSpPr>
            <p:cNvPr id="19" name="TextBox 19"/>
            <p:cNvSpPr txBox="1"/>
            <p:nvPr/>
          </p:nvSpPr>
          <p:spPr>
            <a:xfrm>
              <a:off x="0" y="-38100"/>
              <a:ext cx="839064" cy="322784"/>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9802913" y="4842299"/>
            <a:ext cx="2954785" cy="489881"/>
          </a:xfrm>
          <a:prstGeom prst="rect">
            <a:avLst/>
          </a:prstGeom>
        </p:spPr>
        <p:txBody>
          <a:bodyPr lIns="0" tIns="0" rIns="0" bIns="0" rtlCol="0" anchor="t">
            <a:spAutoFit/>
          </a:bodyPr>
          <a:lstStyle/>
          <a:p>
            <a:pPr marL="0" lvl="0" indent="0" algn="ctr">
              <a:lnSpc>
                <a:spcPts val="4062"/>
              </a:lnSpc>
              <a:spcBef>
                <a:spcPct val="0"/>
              </a:spcBef>
            </a:pPr>
            <a:r>
              <a:rPr lang="en-US" sz="2901" b="1">
                <a:solidFill>
                  <a:srgbClr val="2E3A44"/>
                </a:solidFill>
                <a:latin typeface="Nunito Bold"/>
                <a:ea typeface="Nunito Bold"/>
                <a:cs typeface="Nunito Bold"/>
                <a:sym typeface="Nunito Bold"/>
              </a:rPr>
              <a:t>Training</a:t>
            </a:r>
          </a:p>
        </p:txBody>
      </p:sp>
      <p:grpSp>
        <p:nvGrpSpPr>
          <p:cNvPr id="21" name="Group 21"/>
          <p:cNvGrpSpPr/>
          <p:nvPr/>
        </p:nvGrpSpPr>
        <p:grpSpPr>
          <a:xfrm>
            <a:off x="13758443" y="4618098"/>
            <a:ext cx="3327414" cy="1052769"/>
            <a:chOff x="0" y="0"/>
            <a:chExt cx="863059" cy="273066"/>
          </a:xfrm>
        </p:grpSpPr>
        <p:sp>
          <p:nvSpPr>
            <p:cNvPr id="22" name="Freeform 22"/>
            <p:cNvSpPr/>
            <p:nvPr/>
          </p:nvSpPr>
          <p:spPr>
            <a:xfrm>
              <a:off x="0" y="0"/>
              <a:ext cx="863059" cy="273066"/>
            </a:xfrm>
            <a:custGeom>
              <a:avLst/>
              <a:gdLst/>
              <a:ahLst/>
              <a:cxnLst/>
              <a:rect l="l" t="t" r="r" b="b"/>
              <a:pathLst>
                <a:path w="863059" h="273066">
                  <a:moveTo>
                    <a:pt x="118662" y="0"/>
                  </a:moveTo>
                  <a:lnTo>
                    <a:pt x="744397" y="0"/>
                  </a:lnTo>
                  <a:cubicBezTo>
                    <a:pt x="775868" y="0"/>
                    <a:pt x="806051" y="12502"/>
                    <a:pt x="828304" y="34755"/>
                  </a:cubicBezTo>
                  <a:cubicBezTo>
                    <a:pt x="850557" y="57009"/>
                    <a:pt x="863059" y="87191"/>
                    <a:pt x="863059" y="118662"/>
                  </a:cubicBezTo>
                  <a:lnTo>
                    <a:pt x="863059" y="154404"/>
                  </a:lnTo>
                  <a:cubicBezTo>
                    <a:pt x="863059" y="219939"/>
                    <a:pt x="809932" y="273066"/>
                    <a:pt x="744397" y="273066"/>
                  </a:cubicBezTo>
                  <a:lnTo>
                    <a:pt x="118662" y="273066"/>
                  </a:lnTo>
                  <a:cubicBezTo>
                    <a:pt x="87191" y="273066"/>
                    <a:pt x="57009" y="260564"/>
                    <a:pt x="34755" y="238310"/>
                  </a:cubicBezTo>
                  <a:cubicBezTo>
                    <a:pt x="12502" y="216057"/>
                    <a:pt x="0" y="185875"/>
                    <a:pt x="0" y="154404"/>
                  </a:cubicBezTo>
                  <a:lnTo>
                    <a:pt x="0" y="118662"/>
                  </a:lnTo>
                  <a:cubicBezTo>
                    <a:pt x="0" y="87191"/>
                    <a:pt x="12502" y="57009"/>
                    <a:pt x="34755" y="34755"/>
                  </a:cubicBezTo>
                  <a:cubicBezTo>
                    <a:pt x="57009" y="12502"/>
                    <a:pt x="87191" y="0"/>
                    <a:pt x="118662" y="0"/>
                  </a:cubicBezTo>
                  <a:close/>
                </a:path>
              </a:pathLst>
            </a:custGeom>
            <a:solidFill>
              <a:srgbClr val="E1F3F6"/>
            </a:solidFill>
            <a:ln w="19050" cap="rnd">
              <a:solidFill>
                <a:srgbClr val="000000"/>
              </a:solidFill>
              <a:prstDash val="solid"/>
              <a:round/>
            </a:ln>
          </p:spPr>
        </p:sp>
        <p:sp>
          <p:nvSpPr>
            <p:cNvPr id="23" name="TextBox 23"/>
            <p:cNvSpPr txBox="1"/>
            <p:nvPr/>
          </p:nvSpPr>
          <p:spPr>
            <a:xfrm>
              <a:off x="0" y="-38100"/>
              <a:ext cx="863059" cy="311166"/>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3901318" y="4671685"/>
            <a:ext cx="3176866" cy="999183"/>
          </a:xfrm>
          <a:prstGeom prst="rect">
            <a:avLst/>
          </a:prstGeom>
        </p:spPr>
        <p:txBody>
          <a:bodyPr lIns="0" tIns="0" rIns="0" bIns="0" rtlCol="0" anchor="t">
            <a:spAutoFit/>
          </a:bodyPr>
          <a:lstStyle/>
          <a:p>
            <a:pPr marL="0" lvl="0" indent="0" algn="ctr">
              <a:lnSpc>
                <a:spcPts val="4062"/>
              </a:lnSpc>
              <a:spcBef>
                <a:spcPct val="0"/>
              </a:spcBef>
            </a:pPr>
            <a:r>
              <a:rPr lang="en-US" sz="2901" b="1" u="none" strike="noStrike">
                <a:solidFill>
                  <a:srgbClr val="2E3A44"/>
                </a:solidFill>
                <a:latin typeface="Nunito Bold"/>
                <a:ea typeface="Nunito Bold"/>
                <a:cs typeface="Nunito Bold"/>
                <a:sym typeface="Nunito Bold"/>
              </a:rPr>
              <a:t>Evaluation and Inference</a:t>
            </a:r>
          </a:p>
        </p:txBody>
      </p:sp>
      <p:sp>
        <p:nvSpPr>
          <p:cNvPr id="25" name="TextBox 25"/>
          <p:cNvSpPr txBox="1"/>
          <p:nvPr/>
        </p:nvSpPr>
        <p:spPr>
          <a:xfrm>
            <a:off x="3360695" y="714375"/>
            <a:ext cx="10573132" cy="1318286"/>
          </a:xfrm>
          <a:prstGeom prst="rect">
            <a:avLst/>
          </a:prstGeom>
        </p:spPr>
        <p:txBody>
          <a:bodyPr lIns="0" tIns="0" rIns="0" bIns="0" rtlCol="0" anchor="t">
            <a:spAutoFit/>
          </a:bodyPr>
          <a:lstStyle/>
          <a:p>
            <a:pPr algn="ctr">
              <a:lnSpc>
                <a:spcPts val="9240"/>
              </a:lnSpc>
            </a:pPr>
            <a:r>
              <a:rPr lang="en-US" sz="6600" b="1">
                <a:solidFill>
                  <a:srgbClr val="2E3A44"/>
                </a:solidFill>
                <a:latin typeface="Nirand Bold"/>
                <a:ea typeface="Nirand Bold"/>
                <a:cs typeface="Nirand Bold"/>
                <a:sym typeface="Nirand Bold"/>
              </a:rPr>
              <a:t>CNN PIPELINE OVERVIEW</a:t>
            </a:r>
          </a:p>
        </p:txBody>
      </p:sp>
      <p:sp>
        <p:nvSpPr>
          <p:cNvPr id="26" name="AutoShape 26"/>
          <p:cNvSpPr/>
          <p:nvPr/>
        </p:nvSpPr>
        <p:spPr>
          <a:xfrm flipV="1">
            <a:off x="4251286" y="5133975"/>
            <a:ext cx="933450" cy="8940"/>
          </a:xfrm>
          <a:prstGeom prst="line">
            <a:avLst/>
          </a:prstGeom>
          <a:ln w="19050" cap="flat">
            <a:solidFill>
              <a:srgbClr val="2E3A44"/>
            </a:solidFill>
            <a:prstDash val="solid"/>
            <a:headEnd type="none" w="sm" len="sm"/>
            <a:tailEnd type="arrow" w="med" len="sm"/>
          </a:ln>
        </p:spPr>
      </p:sp>
      <p:sp>
        <p:nvSpPr>
          <p:cNvPr id="27" name="AutoShape 27"/>
          <p:cNvSpPr/>
          <p:nvPr/>
        </p:nvSpPr>
        <p:spPr>
          <a:xfrm>
            <a:off x="8656893" y="5133975"/>
            <a:ext cx="1005862" cy="10508"/>
          </a:xfrm>
          <a:prstGeom prst="line">
            <a:avLst/>
          </a:prstGeom>
          <a:ln w="19050" cap="flat">
            <a:solidFill>
              <a:srgbClr val="2E3A44"/>
            </a:solidFill>
            <a:prstDash val="solid"/>
            <a:headEnd type="none" w="sm" len="sm"/>
            <a:tailEnd type="arrow" w="med" len="sm"/>
          </a:ln>
        </p:spPr>
      </p:sp>
      <p:sp>
        <p:nvSpPr>
          <p:cNvPr id="28" name="AutoShape 28"/>
          <p:cNvSpPr/>
          <p:nvPr/>
        </p:nvSpPr>
        <p:spPr>
          <a:xfrm>
            <a:off x="12897657" y="5144483"/>
            <a:ext cx="860785" cy="0"/>
          </a:xfrm>
          <a:prstGeom prst="line">
            <a:avLst/>
          </a:prstGeom>
          <a:ln w="19050" cap="flat">
            <a:solidFill>
              <a:srgbClr val="2E3A44"/>
            </a:solidFill>
            <a:prstDash val="solid"/>
            <a:headEnd type="none" w="sm" len="sm"/>
            <a:tailEnd type="arrow" w="med" len="sm"/>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0499" y="2538218"/>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88691" y="434784"/>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793144" y="708986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875265" y="693656"/>
            <a:ext cx="11025266" cy="1006502"/>
          </a:xfrm>
          <a:prstGeom prst="rect">
            <a:avLst/>
          </a:prstGeom>
        </p:spPr>
        <p:txBody>
          <a:bodyPr lIns="0" tIns="0" rIns="0" bIns="0" rtlCol="0" anchor="t">
            <a:spAutoFit/>
          </a:bodyPr>
          <a:lstStyle/>
          <a:p>
            <a:pPr algn="l">
              <a:lnSpc>
                <a:spcPts val="7000"/>
              </a:lnSpc>
            </a:pPr>
            <a:r>
              <a:rPr lang="en-US" sz="5000" b="1">
                <a:solidFill>
                  <a:srgbClr val="2E3A44"/>
                </a:solidFill>
                <a:latin typeface="Nirand Bold"/>
                <a:ea typeface="Nirand Bold"/>
                <a:cs typeface="Nirand Bold"/>
                <a:sym typeface="Nirand Bold"/>
              </a:rPr>
              <a:t>DATA PREPERATION</a:t>
            </a:r>
          </a:p>
        </p:txBody>
      </p:sp>
      <p:sp>
        <p:nvSpPr>
          <p:cNvPr id="13" name="TextBox 13"/>
          <p:cNvSpPr txBox="1"/>
          <p:nvPr/>
        </p:nvSpPr>
        <p:spPr>
          <a:xfrm>
            <a:off x="2875265" y="3172073"/>
            <a:ext cx="11874675" cy="3453266"/>
          </a:xfrm>
          <a:prstGeom prst="rect">
            <a:avLst/>
          </a:prstGeom>
        </p:spPr>
        <p:txBody>
          <a:bodyPr lIns="0" tIns="0" rIns="0" bIns="0" rtlCol="0" anchor="t">
            <a:spAutoFit/>
          </a:bodyPr>
          <a:lstStyle/>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The dataset consists of labeled images of boxes from the directory</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data/Allimages/, with training and validation splits defined in JSON files (counting_train.json and counting_val.json).</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Images were normalized using ImageNet mean and standard deviation values.</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Basic data augmentation (random horizontal flipping) was applied to improve generalization.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0499" y="2538218"/>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88691" y="434784"/>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793144" y="708986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875265" y="633917"/>
            <a:ext cx="11025266" cy="1006502"/>
          </a:xfrm>
          <a:prstGeom prst="rect">
            <a:avLst/>
          </a:prstGeom>
        </p:spPr>
        <p:txBody>
          <a:bodyPr lIns="0" tIns="0" rIns="0" bIns="0" rtlCol="0" anchor="t">
            <a:spAutoFit/>
          </a:bodyPr>
          <a:lstStyle/>
          <a:p>
            <a:pPr algn="l">
              <a:lnSpc>
                <a:spcPts val="7000"/>
              </a:lnSpc>
            </a:pPr>
            <a:r>
              <a:rPr lang="en-US" sz="5000" b="1">
                <a:solidFill>
                  <a:srgbClr val="2E3A44"/>
                </a:solidFill>
                <a:latin typeface="Nirand Bold"/>
                <a:ea typeface="Nirand Bold"/>
                <a:cs typeface="Nirand Bold"/>
                <a:sym typeface="Nirand Bold"/>
              </a:rPr>
              <a:t>ARCHITECTURE</a:t>
            </a:r>
          </a:p>
        </p:txBody>
      </p:sp>
      <p:sp>
        <p:nvSpPr>
          <p:cNvPr id="13" name="TextBox 13"/>
          <p:cNvSpPr txBox="1"/>
          <p:nvPr/>
        </p:nvSpPr>
        <p:spPr>
          <a:xfrm>
            <a:off x="2450560" y="2533693"/>
            <a:ext cx="12085442" cy="3483454"/>
          </a:xfrm>
          <a:prstGeom prst="rect">
            <a:avLst/>
          </a:prstGeom>
        </p:spPr>
        <p:txBody>
          <a:bodyPr wrap="square" lIns="0" tIns="0" rIns="0" bIns="0" rtlCol="0" anchor="t">
            <a:spAutoFit/>
          </a:bodyPr>
          <a:lstStyle/>
          <a:p>
            <a:pPr marL="603362" lvl="1" indent="-301681" algn="l">
              <a:lnSpc>
                <a:spcPts val="3912"/>
              </a:lnSpc>
              <a:spcBef>
                <a:spcPct val="0"/>
              </a:spcBef>
              <a:buFont typeface="Arial"/>
              <a:buChar char="•"/>
            </a:pPr>
            <a:r>
              <a:rPr lang="en-US" sz="3200" u="none" strike="noStrike" dirty="0">
                <a:solidFill>
                  <a:srgbClr val="2E3A44"/>
                </a:solidFill>
                <a:latin typeface="Nunito"/>
                <a:ea typeface="Nunito"/>
                <a:cs typeface="Nunito"/>
                <a:sym typeface="Nunito"/>
              </a:rPr>
              <a:t>The model was built using a predefined architecture from </a:t>
            </a:r>
            <a:r>
              <a:rPr lang="en-US" sz="3200" u="none" strike="noStrike" dirty="0" err="1">
                <a:solidFill>
                  <a:srgbClr val="2E3A44"/>
                </a:solidFill>
                <a:latin typeface="Nunito"/>
                <a:ea typeface="Nunito"/>
                <a:cs typeface="Nunito"/>
                <a:sym typeface="Nunito"/>
              </a:rPr>
              <a:t>torchvision.models</a:t>
            </a:r>
            <a:r>
              <a:rPr lang="en-US" sz="3200" u="none" strike="noStrike" dirty="0">
                <a:solidFill>
                  <a:srgbClr val="2E3A44"/>
                </a:solidFill>
                <a:latin typeface="Nunito"/>
                <a:ea typeface="Nunito"/>
                <a:cs typeface="Nunito"/>
                <a:sym typeface="Nunito"/>
              </a:rPr>
              <a:t> — in this case, ResNet-34.</a:t>
            </a:r>
          </a:p>
          <a:p>
            <a:pPr algn="l">
              <a:lnSpc>
                <a:spcPts val="3912"/>
              </a:lnSpc>
              <a:spcBef>
                <a:spcPct val="0"/>
              </a:spcBef>
            </a:pPr>
            <a:endParaRPr lang="en-US" sz="3200" u="none" strike="noStrike" dirty="0">
              <a:solidFill>
                <a:srgbClr val="2E3A44"/>
              </a:solidFill>
              <a:latin typeface="Nunito"/>
              <a:ea typeface="Nunito"/>
              <a:cs typeface="Nunito"/>
              <a:sym typeface="Nunito"/>
            </a:endParaRPr>
          </a:p>
          <a:p>
            <a:pPr marL="603362" lvl="1" indent="-301681" algn="l">
              <a:lnSpc>
                <a:spcPts val="3912"/>
              </a:lnSpc>
              <a:spcBef>
                <a:spcPct val="0"/>
              </a:spcBef>
              <a:buFont typeface="Arial"/>
              <a:buChar char="•"/>
            </a:pPr>
            <a:r>
              <a:rPr lang="en-US" sz="3200" u="none" strike="noStrike" dirty="0">
                <a:solidFill>
                  <a:srgbClr val="2E3A44"/>
                </a:solidFill>
                <a:latin typeface="Nunito"/>
                <a:ea typeface="Nunito"/>
                <a:cs typeface="Nunito"/>
                <a:sym typeface="Nunito"/>
              </a:rPr>
              <a:t>The final fully connected (FC) layer was replaced with a new Linear(</a:t>
            </a:r>
            <a:r>
              <a:rPr lang="en-US" sz="3200" u="none" strike="noStrike" dirty="0" err="1">
                <a:solidFill>
                  <a:srgbClr val="2E3A44"/>
                </a:solidFill>
                <a:latin typeface="Nunito"/>
                <a:ea typeface="Nunito"/>
                <a:cs typeface="Nunito"/>
                <a:sym typeface="Nunito"/>
              </a:rPr>
              <a:t>in_features</a:t>
            </a:r>
            <a:r>
              <a:rPr lang="en-US" sz="3200" u="none" strike="noStrike" dirty="0">
                <a:solidFill>
                  <a:srgbClr val="2E3A44"/>
                </a:solidFill>
                <a:latin typeface="Nunito"/>
                <a:ea typeface="Nunito"/>
                <a:cs typeface="Nunito"/>
                <a:sym typeface="Nunito"/>
              </a:rPr>
              <a:t>, 6) layer (for six classes: counts 0–5, or effectively 1–5 plus background/empty if your data had one).</a:t>
            </a:r>
          </a:p>
          <a:p>
            <a:pPr algn="l">
              <a:lnSpc>
                <a:spcPts val="3912"/>
              </a:lnSpc>
              <a:spcBef>
                <a:spcPct val="0"/>
              </a:spcBef>
            </a:pPr>
            <a:endParaRPr lang="en-US" sz="2794" u="none" strike="noStrike" dirty="0">
              <a:solidFill>
                <a:srgbClr val="2E3A44"/>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0499" y="2538218"/>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88691" y="434784"/>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793144" y="708986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875265" y="633917"/>
            <a:ext cx="11025266" cy="1006502"/>
          </a:xfrm>
          <a:prstGeom prst="rect">
            <a:avLst/>
          </a:prstGeom>
        </p:spPr>
        <p:txBody>
          <a:bodyPr lIns="0" tIns="0" rIns="0" bIns="0" rtlCol="0" anchor="t">
            <a:spAutoFit/>
          </a:bodyPr>
          <a:lstStyle/>
          <a:p>
            <a:pPr algn="l">
              <a:lnSpc>
                <a:spcPts val="7000"/>
              </a:lnSpc>
            </a:pPr>
            <a:r>
              <a:rPr lang="en-US" sz="5000" b="1">
                <a:solidFill>
                  <a:srgbClr val="2E3A44"/>
                </a:solidFill>
                <a:latin typeface="Nirand Bold"/>
                <a:ea typeface="Nirand Bold"/>
                <a:cs typeface="Nirand Bold"/>
                <a:sym typeface="Nirand Bold"/>
              </a:rPr>
              <a:t>TRAINING</a:t>
            </a:r>
          </a:p>
        </p:txBody>
      </p:sp>
      <p:sp>
        <p:nvSpPr>
          <p:cNvPr id="13" name="TextBox 13"/>
          <p:cNvSpPr txBox="1"/>
          <p:nvPr/>
        </p:nvSpPr>
        <p:spPr>
          <a:xfrm>
            <a:off x="2875265" y="3172073"/>
            <a:ext cx="11874675" cy="4983865"/>
          </a:xfrm>
          <a:prstGeom prst="rect">
            <a:avLst/>
          </a:prstGeom>
        </p:spPr>
        <p:txBody>
          <a:bodyPr lIns="0" tIns="0" rIns="0" bIns="0" rtlCol="0" anchor="t">
            <a:spAutoFit/>
          </a:bodyPr>
          <a:lstStyle/>
          <a:p>
            <a:pPr marL="603362" lvl="1" indent="-301681" algn="l">
              <a:lnSpc>
                <a:spcPts val="3912"/>
              </a:lnSpc>
              <a:spcBef>
                <a:spcPct val="0"/>
              </a:spcBef>
              <a:buFont typeface="Arial"/>
              <a:buChar char="•"/>
            </a:pPr>
            <a:r>
              <a:rPr lang="en-US" sz="2794" dirty="0">
                <a:solidFill>
                  <a:srgbClr val="2E3A44"/>
                </a:solidFill>
                <a:latin typeface="Nunito"/>
                <a:ea typeface="Nunito"/>
                <a:cs typeface="Nunito"/>
                <a:sym typeface="Nunito"/>
              </a:rPr>
              <a:t>L</a:t>
            </a:r>
            <a:r>
              <a:rPr lang="en-US" sz="2794" u="none" strike="noStrike" dirty="0">
                <a:solidFill>
                  <a:srgbClr val="2E3A44"/>
                </a:solidFill>
                <a:latin typeface="Nunito"/>
                <a:ea typeface="Nunito"/>
                <a:cs typeface="Nunito"/>
                <a:sym typeface="Nunito"/>
              </a:rPr>
              <a:t>oss Function: Cross-Entropy Loss — suitable for multi-class classification.</a:t>
            </a:r>
          </a:p>
          <a:p>
            <a:pPr marL="603362" lvl="1" indent="-301681" algn="l">
              <a:lnSpc>
                <a:spcPts val="3912"/>
              </a:lnSpc>
              <a:spcBef>
                <a:spcPct val="0"/>
              </a:spcBef>
              <a:buFont typeface="Arial"/>
              <a:buChar char="•"/>
            </a:pPr>
            <a:r>
              <a:rPr lang="en-US" sz="2794" u="none" strike="noStrike" dirty="0">
                <a:solidFill>
                  <a:srgbClr val="2E3A44"/>
                </a:solidFill>
                <a:latin typeface="Nunito"/>
                <a:ea typeface="Nunito"/>
                <a:cs typeface="Nunito"/>
                <a:sym typeface="Nunito"/>
              </a:rPr>
              <a:t>Optimizer: </a:t>
            </a:r>
            <a:r>
              <a:rPr lang="en-US" sz="2794" b="1" u="none" strike="noStrike" dirty="0">
                <a:solidFill>
                  <a:srgbClr val="2E3A44"/>
                </a:solidFill>
                <a:latin typeface="Nunito Bold"/>
                <a:ea typeface="Nunito Bold"/>
                <a:cs typeface="Nunito Bold"/>
                <a:sym typeface="Nunito Bold"/>
              </a:rPr>
              <a:t>Stochastic Gradient Descent</a:t>
            </a:r>
            <a:r>
              <a:rPr lang="en-US" sz="2794" u="none" strike="noStrike" dirty="0">
                <a:solidFill>
                  <a:srgbClr val="2E3A44"/>
                </a:solidFill>
                <a:latin typeface="Nunito"/>
                <a:ea typeface="Nunito"/>
                <a:cs typeface="Nunito"/>
                <a:sym typeface="Nunito"/>
              </a:rPr>
              <a:t> (SGD) with:</a:t>
            </a:r>
          </a:p>
          <a:p>
            <a:pPr marL="603362" lvl="1" indent="-301681" algn="l">
              <a:lnSpc>
                <a:spcPts val="3912"/>
              </a:lnSpc>
              <a:spcBef>
                <a:spcPct val="0"/>
              </a:spcBef>
              <a:buFont typeface="Arial"/>
              <a:buChar char="•"/>
            </a:pPr>
            <a:r>
              <a:rPr lang="en-US" sz="2794" u="none" strike="noStrike" dirty="0">
                <a:solidFill>
                  <a:srgbClr val="2E3A44"/>
                </a:solidFill>
                <a:latin typeface="Nunito"/>
                <a:ea typeface="Nunito"/>
                <a:cs typeface="Nunito"/>
                <a:sym typeface="Nunito"/>
              </a:rPr>
              <a:t>Learning Rate = 0.1</a:t>
            </a:r>
          </a:p>
          <a:p>
            <a:pPr marL="603362" lvl="1" indent="-301681" algn="l">
              <a:lnSpc>
                <a:spcPts val="3912"/>
              </a:lnSpc>
              <a:spcBef>
                <a:spcPct val="0"/>
              </a:spcBef>
              <a:buFont typeface="Arial"/>
              <a:buChar char="•"/>
            </a:pPr>
            <a:r>
              <a:rPr lang="en-US" sz="2794" u="none" strike="noStrike" dirty="0">
                <a:solidFill>
                  <a:srgbClr val="2E3A44"/>
                </a:solidFill>
                <a:latin typeface="Nunito"/>
                <a:ea typeface="Nunito"/>
                <a:cs typeface="Nunito"/>
                <a:sym typeface="Nunito"/>
              </a:rPr>
              <a:t>Momentum = 0.9</a:t>
            </a:r>
          </a:p>
          <a:p>
            <a:pPr marL="603362" lvl="1" indent="-301681" algn="l">
              <a:lnSpc>
                <a:spcPts val="3912"/>
              </a:lnSpc>
              <a:spcBef>
                <a:spcPct val="0"/>
              </a:spcBef>
              <a:buFont typeface="Arial"/>
              <a:buChar char="•"/>
            </a:pPr>
            <a:r>
              <a:rPr lang="en-US" sz="2794" u="none" strike="noStrike" dirty="0">
                <a:solidFill>
                  <a:srgbClr val="2E3A44"/>
                </a:solidFill>
                <a:latin typeface="Nunito"/>
                <a:ea typeface="Nunito"/>
                <a:cs typeface="Nunito"/>
                <a:sym typeface="Nunito"/>
              </a:rPr>
              <a:t>Weight Decay = 1e-4</a:t>
            </a:r>
          </a:p>
          <a:p>
            <a:pPr marL="603362" lvl="1" indent="-301681" algn="l">
              <a:lnSpc>
                <a:spcPts val="3912"/>
              </a:lnSpc>
              <a:spcBef>
                <a:spcPct val="0"/>
              </a:spcBef>
              <a:buFont typeface="Arial"/>
              <a:buChar char="•"/>
            </a:pPr>
            <a:r>
              <a:rPr lang="en-US" sz="2794" u="none" strike="noStrike" dirty="0">
                <a:solidFill>
                  <a:srgbClr val="2E3A44"/>
                </a:solidFill>
                <a:latin typeface="Nunito"/>
                <a:ea typeface="Nunito"/>
                <a:cs typeface="Nunito"/>
                <a:sym typeface="Nunito"/>
              </a:rPr>
              <a:t>The learning rate was decayed by a factor of 0.1 every </a:t>
            </a:r>
            <a:r>
              <a:rPr lang="en-US" sz="2794" u="none" strike="noStrike" dirty="0" err="1">
                <a:solidFill>
                  <a:srgbClr val="2E3A44"/>
                </a:solidFill>
                <a:latin typeface="Nunito"/>
                <a:ea typeface="Nunito"/>
                <a:cs typeface="Nunito"/>
                <a:sym typeface="Nunito"/>
              </a:rPr>
              <a:t>lrd</a:t>
            </a:r>
            <a:r>
              <a:rPr lang="en-US" sz="2794" u="none" strike="noStrike" dirty="0">
                <a:solidFill>
                  <a:srgbClr val="2E3A44"/>
                </a:solidFill>
                <a:latin typeface="Nunito"/>
                <a:ea typeface="Nunito"/>
                <a:cs typeface="Nunito"/>
                <a:sym typeface="Nunito"/>
              </a:rPr>
              <a:t> = 10 epochs.</a:t>
            </a:r>
          </a:p>
          <a:p>
            <a:pPr marL="603362" lvl="1" indent="-301681" algn="l">
              <a:lnSpc>
                <a:spcPts val="3912"/>
              </a:lnSpc>
              <a:spcBef>
                <a:spcPct val="0"/>
              </a:spcBef>
              <a:buFont typeface="Arial"/>
              <a:buChar char="•"/>
            </a:pPr>
            <a:r>
              <a:rPr lang="en-US" sz="2794" u="none" strike="noStrike" dirty="0">
                <a:solidFill>
                  <a:srgbClr val="2E3A44"/>
                </a:solidFill>
                <a:latin typeface="Nunito"/>
                <a:ea typeface="Nunito"/>
                <a:cs typeface="Nunito"/>
                <a:sym typeface="Nunito"/>
              </a:rPr>
              <a:t>Training was performed for </a:t>
            </a:r>
            <a:r>
              <a:rPr lang="en-US" sz="2794" dirty="0">
                <a:solidFill>
                  <a:srgbClr val="2E3A44"/>
                </a:solidFill>
                <a:latin typeface="Nunito"/>
                <a:ea typeface="Nunito"/>
                <a:cs typeface="Nunito"/>
                <a:sym typeface="Nunito"/>
              </a:rPr>
              <a:t>15</a:t>
            </a:r>
            <a:r>
              <a:rPr lang="en-US" sz="2794" u="none" strike="noStrike" dirty="0">
                <a:solidFill>
                  <a:srgbClr val="2E3A44"/>
                </a:solidFill>
                <a:latin typeface="Nunito"/>
                <a:ea typeface="Nunito"/>
                <a:cs typeface="Nunito"/>
                <a:sym typeface="Nunito"/>
              </a:rPr>
              <a:t> epochs with a batch size of </a:t>
            </a:r>
            <a:r>
              <a:rPr lang="en-US" sz="2794" dirty="0">
                <a:solidFill>
                  <a:srgbClr val="2E3A44"/>
                </a:solidFill>
                <a:latin typeface="Nunito"/>
                <a:ea typeface="Nunito"/>
                <a:cs typeface="Nunito"/>
                <a:sym typeface="Nunito"/>
              </a:rPr>
              <a:t>2537</a:t>
            </a:r>
            <a:r>
              <a:rPr lang="en-US" sz="2794" u="none" strike="noStrike" dirty="0">
                <a:solidFill>
                  <a:srgbClr val="2E3A44"/>
                </a:solidFill>
                <a:latin typeface="Nunito"/>
                <a:ea typeface="Nunito"/>
                <a:cs typeface="Nunito"/>
                <a:sym typeface="Nunito"/>
              </a:rPr>
              <a:t>.</a:t>
            </a:r>
            <a:r>
              <a:rPr lang="en-US" sz="2794" dirty="0">
                <a:solidFill>
                  <a:srgbClr val="2E3A44"/>
                </a:solidFill>
                <a:latin typeface="Nunito"/>
                <a:ea typeface="Nunito"/>
                <a:cs typeface="Nunito"/>
                <a:sym typeface="Nunito"/>
              </a:rPr>
              <a:t>(it took around 2seconds </a:t>
            </a:r>
            <a:r>
              <a:rPr lang="en-US" sz="2794">
                <a:solidFill>
                  <a:srgbClr val="2E3A44"/>
                </a:solidFill>
                <a:latin typeface="Nunito"/>
                <a:ea typeface="Nunito"/>
                <a:cs typeface="Nunito"/>
                <a:sym typeface="Nunito"/>
              </a:rPr>
              <a:t>per batch).</a:t>
            </a:r>
            <a:endParaRPr lang="en-US" sz="2794" u="none" strike="noStrike" dirty="0">
              <a:solidFill>
                <a:srgbClr val="2E3A44"/>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0499" y="2538218"/>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88691" y="434784"/>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793144" y="708986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875265" y="633917"/>
            <a:ext cx="11025266" cy="1006502"/>
          </a:xfrm>
          <a:prstGeom prst="rect">
            <a:avLst/>
          </a:prstGeom>
        </p:spPr>
        <p:txBody>
          <a:bodyPr lIns="0" tIns="0" rIns="0" bIns="0" rtlCol="0" anchor="t">
            <a:spAutoFit/>
          </a:bodyPr>
          <a:lstStyle/>
          <a:p>
            <a:pPr algn="l">
              <a:lnSpc>
                <a:spcPts val="7000"/>
              </a:lnSpc>
            </a:pPr>
            <a:r>
              <a:rPr lang="en-US" sz="5000" b="1">
                <a:solidFill>
                  <a:srgbClr val="2E3A44"/>
                </a:solidFill>
                <a:latin typeface="Nirand Bold"/>
                <a:ea typeface="Nirand Bold"/>
                <a:cs typeface="Nirand Bold"/>
                <a:sym typeface="Nirand Bold"/>
              </a:rPr>
              <a:t>EVALUATION AND INFERENCE</a:t>
            </a:r>
          </a:p>
        </p:txBody>
      </p:sp>
      <p:sp>
        <p:nvSpPr>
          <p:cNvPr id="13" name="TextBox 13"/>
          <p:cNvSpPr txBox="1"/>
          <p:nvPr/>
        </p:nvSpPr>
        <p:spPr>
          <a:xfrm>
            <a:off x="2875265" y="3172073"/>
            <a:ext cx="11874675" cy="4443627"/>
          </a:xfrm>
          <a:prstGeom prst="rect">
            <a:avLst/>
          </a:prstGeom>
        </p:spPr>
        <p:txBody>
          <a:bodyPr lIns="0" tIns="0" rIns="0" bIns="0" rtlCol="0" anchor="t">
            <a:spAutoFit/>
          </a:bodyPr>
          <a:lstStyle/>
          <a:p>
            <a:pPr marL="603362" lvl="1" indent="-301681" algn="l">
              <a:lnSpc>
                <a:spcPts val="3912"/>
              </a:lnSpc>
              <a:spcBef>
                <a:spcPct val="0"/>
              </a:spcBef>
              <a:buFont typeface="Arial"/>
              <a:buChar char="•"/>
            </a:pPr>
            <a:r>
              <a:rPr lang="en-US" sz="2794">
                <a:solidFill>
                  <a:srgbClr val="2E3A44"/>
                </a:solidFill>
                <a:latin typeface="Nunito"/>
                <a:ea typeface="Nunito"/>
                <a:cs typeface="Nunito"/>
                <a:sym typeface="Nunito"/>
              </a:rPr>
              <a:t>Valida</a:t>
            </a:r>
            <a:r>
              <a:rPr lang="en-US" sz="2794" u="none" strike="noStrike">
                <a:solidFill>
                  <a:srgbClr val="2E3A44"/>
                </a:solidFill>
                <a:latin typeface="Nunito"/>
                <a:ea typeface="Nunito"/>
                <a:cs typeface="Nunito"/>
                <a:sym typeface="Nunito"/>
              </a:rPr>
              <a:t>tion accuracy was calculated after every epoch.</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The best-performing model (highest validation accuracy) was saved separately.</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A log of training loss, training accuracy, and validation accuracy was maintained.</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When the --evaluate flag was used, the model skipped training and evaluated on the validation set.</a:t>
            </a:r>
          </a:p>
          <a:p>
            <a:pPr marL="603362" lvl="1" indent="-301681" algn="l">
              <a:lnSpc>
                <a:spcPts val="3912"/>
              </a:lnSpc>
              <a:spcBef>
                <a:spcPct val="0"/>
              </a:spcBef>
              <a:buFont typeface="Arial"/>
              <a:buChar char="•"/>
            </a:pPr>
            <a:r>
              <a:rPr lang="en-US" sz="2794" u="none" strike="noStrike">
                <a:solidFill>
                  <a:srgbClr val="2E3A44"/>
                </a:solidFill>
                <a:latin typeface="Nunito"/>
                <a:ea typeface="Nunito"/>
                <a:cs typeface="Nunito"/>
                <a:sym typeface="Nunito"/>
              </a:rPr>
              <a:t>Predicted labels were optionally written to counting_result.txt.</a:t>
            </a:r>
          </a:p>
          <a:p>
            <a:pPr algn="l">
              <a:lnSpc>
                <a:spcPts val="3912"/>
              </a:lnSpc>
              <a:spcBef>
                <a:spcPct val="0"/>
              </a:spcBef>
            </a:pPr>
            <a:endParaRPr lang="en-US" sz="2794" u="none" strike="noStrike">
              <a:solidFill>
                <a:srgbClr val="2E3A44"/>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4" y="-1345629"/>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641971" y="-1345629"/>
            <a:ext cx="13341342" cy="133413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sp>
      <p:grpSp>
        <p:nvGrpSpPr>
          <p:cNvPr id="9" name="Group 9"/>
          <p:cNvGrpSpPr/>
          <p:nvPr/>
        </p:nvGrpSpPr>
        <p:grpSpPr>
          <a:xfrm>
            <a:off x="17259300" y="3262130"/>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19742" y="4081247"/>
            <a:ext cx="6695941" cy="1495425"/>
          </a:xfrm>
          <a:prstGeom prst="rect">
            <a:avLst/>
          </a:prstGeom>
        </p:spPr>
        <p:txBody>
          <a:bodyPr lIns="0" tIns="0" rIns="0" bIns="0" rtlCol="0" anchor="t">
            <a:spAutoFit/>
          </a:bodyPr>
          <a:lstStyle/>
          <a:p>
            <a:pPr algn="l">
              <a:lnSpc>
                <a:spcPts val="10500"/>
              </a:lnSpc>
            </a:pPr>
            <a:r>
              <a:rPr lang="en-US" sz="7500" b="1">
                <a:solidFill>
                  <a:srgbClr val="2E3A44"/>
                </a:solidFill>
                <a:latin typeface="Nirand Bold"/>
                <a:ea typeface="Nirand Bold"/>
                <a:cs typeface="Nirand Bold"/>
                <a:sym typeface="Nirand Bold"/>
              </a:rPr>
              <a:t>CONCLUSION</a:t>
            </a:r>
          </a:p>
        </p:txBody>
      </p:sp>
      <p:sp>
        <p:nvSpPr>
          <p:cNvPr id="13" name="TextBox 13"/>
          <p:cNvSpPr txBox="1"/>
          <p:nvPr/>
        </p:nvSpPr>
        <p:spPr>
          <a:xfrm>
            <a:off x="7827092" y="3185930"/>
            <a:ext cx="9304487" cy="4336039"/>
          </a:xfrm>
          <a:prstGeom prst="rect">
            <a:avLst/>
          </a:prstGeom>
        </p:spPr>
        <p:txBody>
          <a:bodyPr lIns="0" tIns="0" rIns="0" bIns="0" rtlCol="0" anchor="t">
            <a:spAutoFit/>
          </a:bodyPr>
          <a:lstStyle/>
          <a:p>
            <a:pPr marL="590571" lvl="1" indent="-295285" algn="l">
              <a:lnSpc>
                <a:spcPts val="3829"/>
              </a:lnSpc>
              <a:buFont typeface="Arial"/>
              <a:buChar char="•"/>
            </a:pPr>
            <a:r>
              <a:rPr lang="en-US" sz="2735">
                <a:solidFill>
                  <a:srgbClr val="000000"/>
                </a:solidFill>
                <a:latin typeface="Arimo"/>
                <a:ea typeface="Arimo"/>
                <a:cs typeface="Arimo"/>
                <a:sym typeface="Arimo"/>
              </a:rPr>
              <a:t>Our ResNet34 CNN achieved 48.48% accuracy, significantly outperforming our SVM baseline at 29.07% - a 66.7% relative improvement. </a:t>
            </a:r>
          </a:p>
          <a:p>
            <a:pPr marL="590571" lvl="1" indent="-295285" algn="l">
              <a:lnSpc>
                <a:spcPts val="3829"/>
              </a:lnSpc>
              <a:buFont typeface="Arial"/>
              <a:buChar char="•"/>
            </a:pPr>
            <a:r>
              <a:rPr lang="en-US" sz="2735">
                <a:solidFill>
                  <a:srgbClr val="000000"/>
                </a:solidFill>
                <a:latin typeface="Arimo"/>
                <a:ea typeface="Arimo"/>
                <a:cs typeface="Arimo"/>
                <a:sym typeface="Arimo"/>
              </a:rPr>
              <a:t>The CNN excelled at counting items in bins, particularly for lower quantities (100% accuracy on empty bins, 73.47% on single items). </a:t>
            </a:r>
          </a:p>
          <a:p>
            <a:pPr marL="590571" lvl="1" indent="-295285" algn="l">
              <a:lnSpc>
                <a:spcPts val="3829"/>
              </a:lnSpc>
              <a:buFont typeface="Arial"/>
              <a:buChar char="•"/>
            </a:pPr>
            <a:r>
              <a:rPr lang="en-US" sz="2735">
                <a:solidFill>
                  <a:srgbClr val="000000"/>
                </a:solidFill>
                <a:latin typeface="Arimo"/>
                <a:ea typeface="Arimo"/>
                <a:cs typeface="Arimo"/>
                <a:sym typeface="Arimo"/>
              </a:rPr>
              <a:t>This validates that deep learning's automatic feature extraction substantially outperforms traditional models like SVMs in challenging multi-class classification task.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831965" y="-2876710"/>
            <a:ext cx="16040420" cy="160404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211909" y="2963670"/>
            <a:ext cx="7864182" cy="4621531"/>
          </a:xfrm>
          <a:prstGeom prst="rect">
            <a:avLst/>
          </a:prstGeom>
        </p:spPr>
        <p:txBody>
          <a:bodyPr lIns="0" tIns="0" rIns="0" bIns="0" rtlCol="0" anchor="t">
            <a:spAutoFit/>
          </a:bodyPr>
          <a:lstStyle/>
          <a:p>
            <a:pPr algn="ctr">
              <a:lnSpc>
                <a:spcPts val="15810"/>
              </a:lnSpc>
            </a:pPr>
            <a:r>
              <a:rPr lang="en-US" sz="17000" b="1">
                <a:solidFill>
                  <a:srgbClr val="627484"/>
                </a:solidFill>
                <a:latin typeface="Nirand Bold"/>
                <a:ea typeface="Nirand Bold"/>
                <a:cs typeface="Nirand Bold"/>
                <a:sym typeface="Nirand Bold"/>
              </a:rPr>
              <a:t>Thank You</a:t>
            </a:r>
          </a:p>
        </p:txBody>
      </p:sp>
      <p:grpSp>
        <p:nvGrpSpPr>
          <p:cNvPr id="6" name="Group 6"/>
          <p:cNvGrpSpPr/>
          <p:nvPr/>
        </p:nvGrpSpPr>
        <p:grpSpPr>
          <a:xfrm>
            <a:off x="13076091" y="710993"/>
            <a:ext cx="2513081" cy="25130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AutoShape 9"/>
          <p:cNvSpPr/>
          <p:nvPr/>
        </p:nvSpPr>
        <p:spPr>
          <a:xfrm>
            <a:off x="-1700579" y="1028700"/>
            <a:ext cx="7733905" cy="0"/>
          </a:xfrm>
          <a:prstGeom prst="line">
            <a:avLst/>
          </a:prstGeom>
          <a:ln w="38100" cap="flat">
            <a:solidFill>
              <a:srgbClr val="2E3A44"/>
            </a:solidFill>
            <a:prstDash val="solid"/>
            <a:headEnd type="none" w="sm" len="sm"/>
            <a:tailEnd type="oval" w="lg" len="lg"/>
          </a:ln>
        </p:spPr>
      </p:sp>
      <p:sp>
        <p:nvSpPr>
          <p:cNvPr id="10" name="AutoShape 10"/>
          <p:cNvSpPr/>
          <p:nvPr/>
        </p:nvSpPr>
        <p:spPr>
          <a:xfrm>
            <a:off x="11230885" y="9258300"/>
            <a:ext cx="7770392" cy="0"/>
          </a:xfrm>
          <a:prstGeom prst="line">
            <a:avLst/>
          </a:prstGeom>
          <a:ln w="38100" cap="flat">
            <a:solidFill>
              <a:srgbClr val="2E3A44"/>
            </a:solidFill>
            <a:prstDash val="solid"/>
            <a:headEnd type="oval" w="lg" len="lg"/>
            <a:tailEnd type="none" w="sm" len="sm"/>
          </a:ln>
        </p:spPr>
      </p:sp>
      <p:grpSp>
        <p:nvGrpSpPr>
          <p:cNvPr id="11" name="Group 11"/>
          <p:cNvGrpSpPr/>
          <p:nvPr/>
        </p:nvGrpSpPr>
        <p:grpSpPr>
          <a:xfrm>
            <a:off x="2740932" y="6266276"/>
            <a:ext cx="1586288" cy="158628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931</Words>
  <Application>Microsoft Office PowerPoint</Application>
  <PresentationFormat>Custom</PresentationFormat>
  <Paragraphs>82</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Nunito Bold</vt:lpstr>
      <vt:lpstr>Canva Sans</vt:lpstr>
      <vt:lpstr>Open Sans Bold</vt:lpstr>
      <vt:lpstr>Arial</vt:lpstr>
      <vt:lpstr>Open Sans</vt:lpstr>
      <vt:lpstr>Nunito</vt:lpstr>
      <vt:lpstr>Nirand Bold</vt:lpstr>
      <vt:lpstr>Calibri</vt:lpstr>
      <vt:lpstr>Canva Sans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Minimalist Geometric Group Project Presentation</dc:title>
  <cp:lastModifiedBy>Anshul Rajakumar Soppina</cp:lastModifiedBy>
  <cp:revision>3</cp:revision>
  <dcterms:created xsi:type="dcterms:W3CDTF">2006-08-16T00:00:00Z</dcterms:created>
  <dcterms:modified xsi:type="dcterms:W3CDTF">2025-10-14T09:25:25Z</dcterms:modified>
  <dc:identifier>DAG1rXoEJbQ</dc:identifier>
</cp:coreProperties>
</file>